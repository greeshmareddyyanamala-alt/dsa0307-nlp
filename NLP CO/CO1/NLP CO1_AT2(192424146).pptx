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4" r:id="rId6"/>
    <p:sldId id="265" r:id="rId7"/>
    <p:sldId id="260" r:id="rId8"/>
    <p:sldId id="261"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04662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slide. Derivational morphology is the study of how new words are formed by adding prefixes and suffixes to a root or base word. The example on screen — un + break + able = 'unbreakable' — shows three morphemes combining into one new word. Use this slide to introduce the topic: today's session covers what derivational morphology is, how prefixes and suffixes work, and how understanding them helps learners expand vocabulary faster.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core definition: a derivational morpheme attaches to a root and creates a NEW word, often changing meaning and/or part of speech. Walk through the example chain: happy (adjective) -&gt; happiness (noun, via -ness) -&gt; unhappiness (noun, opposite meaning, via un-). Then contrast with inflectional morphology: inflection (like walk -&gt; walked, or cat -&gt; cats) changes grammatical form ONLY — tense, number, etc. — but never creates a new word or changes word class. This distinction matters because derivational morphology is the tool for vocabulary GROWTH, while inflectional morphology is about grammar.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Prefixes attach to the FRONT of a root word. Go through each example: un- reverses meaning (happy -&gt; unhappy); re- means 'again' (write -&gt; rewrite); mis- means 'wrongly' (understand -&gt; misunderstand); pre- means 'before' (view -&gt; preview). Key teaching point: prefixes almost always change MEANING but keep the word's grammatical category the same — 'happy' and 'unhappy' are both adjectives. This makes prefixes a fast way to expand vocabulary because learners can apply one prefix to many roots (un- + happy, un- + kind, un- + fair, etc.).</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Suffixes attach to the END of a root word, and unlike prefixes, they typically change the word's part of speech. Go row by row: noun-forming suffixes like -tion/-ness/-ment (act -&gt; action); verb-forming suffixes like -ize/-ify/-en (active -&gt; activate); adjective-forming suffixes like -ful/-less/-able (care -&gt; careful); adverb-forming suffix -ly (active -&gt; actively). The closing example chain (act -&gt; active -&gt; activate -&gt; activation -&gt; actively) shows how ONE root can move through all four word classes just by swapping suffixes. This is a powerful vocabulary-building insight: knowing a root plus a handful of suffix patterns unlocks many related words at once.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roots, the core meaning-bearing unit that prefixes and suffixes attach to. Distinguish free roots, which can stand alone as words (care, kind, form), from bound roots, which cannot (-duce, as in produce or reduce). Then introduce Greek roots (tele-, phon-, bio-) and Latin roots (dict-, port-, spect-) as two major sources of English vocabulary, especially in academic and scientific words. The takeaway: learning a root unlocks every word built from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broadens the picture beyond derivation to other ways English creates new words: compounding (joining two whole words, like notebook), blending (merging parts of two words, like smog from smoke + fog), conversion (shifting word class with no affix added, like turning the noun email into a verb), and clipping (shortening a longer word, like ad from advertisement). Make clear these are distinct from derivation because they don't rely on adding prefixes or suffixes to a root.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ties prefixes and suffixes together into a practical vocabulary-building strategy: word families. The root 'create' branches into creator (noun, person), creative (adjective), creation (noun, result), creatively (adverb), and recreate (verb, prefix re- + create). One root, five words — this is the multiplier effect of derivational morphology. Walk through the four strategies on the right: (1) prioritize learning common roots/affixes over memorizing isolated words, (2) build word maps to visually connect families, (3) practice sorting words by class using suffix patterns as clues, and (4) always confirm meaning with context since affixes can be ambiguous.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with the three takeaways: (1) derivational morphology is the engine of vocabulary growth — a small set of roots and affixes generates thousands of words; (2) recognizing prefixes and suffixes is a decoding tool, letting learners infer the meaning of unfamiliar words without a dictionary; (3) this makes vocabulary learning far more efficient than memorizing words one at a time. Close on the quote: mastering the parts (roots, prefixes, suffixes) unlocks the whole lexicon — encourage the audience to start noticing affixes in everyday reading.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8" name="Text 6"/>
          <p:cNvSpPr/>
          <p:nvPr/>
        </p:nvSpPr>
        <p:spPr>
          <a:xfrm>
            <a:off x="822960" y="2468880"/>
            <a:ext cx="10515600" cy="137160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DERIVATIONAL MORPHOLOGY</a:t>
            </a:r>
            <a:endParaRPr lang="en-US" sz="4600" dirty="0"/>
          </a:p>
        </p:txBody>
      </p:sp>
      <p:sp>
        <p:nvSpPr>
          <p:cNvPr id="9" name="Text 7"/>
          <p:cNvSpPr/>
          <p:nvPr/>
        </p:nvSpPr>
        <p:spPr>
          <a:xfrm>
            <a:off x="822960" y="3520440"/>
            <a:ext cx="9601200" cy="640080"/>
          </a:xfrm>
          <a:prstGeom prst="rect">
            <a:avLst/>
          </a:prstGeom>
          <a:noFill/>
          <a:ln/>
        </p:spPr>
        <p:txBody>
          <a:bodyPr wrap="square" lIns="0" tIns="0" rIns="0" bIns="0" rtlCol="0" anchor="ctr"/>
          <a:lstStyle/>
          <a:p>
            <a:pPr marL="0" indent="0">
              <a:buNone/>
            </a:pPr>
            <a:r>
              <a:rPr lang="en-US" sz="2000" i="1" dirty="0">
                <a:solidFill>
                  <a:srgbClr val="E4C874"/>
                </a:solidFill>
                <a:latin typeface="Calibri" pitchFamily="34" charset="0"/>
                <a:ea typeface="Calibri" pitchFamily="34" charset="-122"/>
                <a:cs typeface="Calibri" pitchFamily="34" charset="-120"/>
              </a:rPr>
              <a:t>Building New Words and Expanding Vocabulary</a:t>
            </a:r>
            <a:endParaRPr lang="en-US" sz="2000" dirty="0"/>
          </a:p>
        </p:txBody>
      </p:sp>
      <p:sp>
        <p:nvSpPr>
          <p:cNvPr id="10" name="Shape 8"/>
          <p:cNvSpPr/>
          <p:nvPr/>
        </p:nvSpPr>
        <p:spPr>
          <a:xfrm>
            <a:off x="822960" y="4343400"/>
            <a:ext cx="2926080" cy="0"/>
          </a:xfrm>
          <a:prstGeom prst="line">
            <a:avLst/>
          </a:prstGeom>
          <a:noFill/>
          <a:ln w="12700">
            <a:solidFill>
              <a:srgbClr val="3A4A70"/>
            </a:solidFill>
            <a:prstDash val="solid"/>
          </a:ln>
        </p:spPr>
      </p:sp>
      <p:sp>
        <p:nvSpPr>
          <p:cNvPr id="11" name="Text 9"/>
          <p:cNvSpPr/>
          <p:nvPr/>
        </p:nvSpPr>
        <p:spPr>
          <a:xfrm>
            <a:off x="822960" y="4526280"/>
            <a:ext cx="8686800" cy="457200"/>
          </a:xfrm>
          <a:prstGeom prst="rect">
            <a:avLst/>
          </a:prstGeom>
          <a:noFill/>
          <a:ln/>
        </p:spPr>
        <p:txBody>
          <a:bodyPr wrap="square" lIns="0" tIns="0" rIns="0" bIns="0" rtlCol="0" anchor="ctr"/>
          <a:lstStyle/>
          <a:p>
            <a:pPr marL="0" indent="0">
              <a:buNone/>
            </a:pPr>
            <a:r>
              <a:rPr lang="en-US" sz="1300" dirty="0">
                <a:solidFill>
                  <a:srgbClr val="AEB8D4"/>
                </a:solidFill>
                <a:latin typeface="Calibri" pitchFamily="34" charset="0"/>
                <a:ea typeface="Calibri" pitchFamily="34" charset="-122"/>
                <a:cs typeface="Calibri" pitchFamily="34" charset="-120"/>
              </a:rPr>
              <a:t>How prefixes, roots, and suffixes work together to grow the English lexicon</a:t>
            </a:r>
            <a:endParaRPr lang="en-US" sz="1300" dirty="0"/>
          </a:p>
        </p:txBody>
      </p:sp>
      <p:sp>
        <p:nvSpPr>
          <p:cNvPr id="12" name="Text 10"/>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8C99B8"/>
                </a:solidFill>
                <a:latin typeface="Calibri" pitchFamily="34" charset="0"/>
                <a:ea typeface="Calibri" pitchFamily="34" charset="-122"/>
                <a:cs typeface="Calibri" pitchFamily="34" charset="-120"/>
              </a:rPr>
              <a:t>DERIVATIONAL MORPHOLOGY</a:t>
            </a:r>
            <a:endParaRPr lang="en-US" sz="900" dirty="0"/>
          </a:p>
        </p:txBody>
      </p:sp>
      <p:sp>
        <p:nvSpPr>
          <p:cNvPr id="13" name="Text 11"/>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900" dirty="0">
                <a:solidFill>
                  <a:srgbClr val="8C99B8"/>
                </a:solidFill>
                <a:latin typeface="Calibri" pitchFamily="34" charset="0"/>
                <a:ea typeface="Calibri" pitchFamily="34" charset="-122"/>
                <a:cs typeface="Calibri" pitchFamily="34" charset="-120"/>
              </a:rPr>
              <a:t>1</a:t>
            </a:r>
            <a:endParaRPr lang="en-US" sz="900" dirty="0"/>
          </a:p>
        </p:txBody>
      </p:sp>
      <p:sp>
        <p:nvSpPr>
          <p:cNvPr id="14" name="TextBox 13">
            <a:extLst>
              <a:ext uri="{FF2B5EF4-FFF2-40B4-BE49-F238E27FC236}">
                <a16:creationId xmlns:a16="http://schemas.microsoft.com/office/drawing/2014/main" id="{3D2B4C1F-A698-3FD1-3EE7-7AAD2EEBF541}"/>
              </a:ext>
            </a:extLst>
          </p:cNvPr>
          <p:cNvSpPr txBox="1"/>
          <p:nvPr/>
        </p:nvSpPr>
        <p:spPr>
          <a:xfrm>
            <a:off x="6960637" y="5128551"/>
            <a:ext cx="4954555" cy="1200329"/>
          </a:xfrm>
          <a:prstGeom prst="rect">
            <a:avLst/>
          </a:prstGeom>
          <a:noFill/>
        </p:spPr>
        <p:txBody>
          <a:bodyPr wrap="square" rtlCol="0">
            <a:spAutoFit/>
          </a:bodyPr>
          <a:lstStyle/>
          <a:p>
            <a:pPr algn="just"/>
            <a:r>
              <a:rPr lang="en-IN" dirty="0">
                <a:solidFill>
                  <a:schemeClr val="bg1"/>
                </a:solidFill>
              </a:rPr>
              <a:t>Done By:</a:t>
            </a:r>
          </a:p>
          <a:p>
            <a:pPr algn="just"/>
            <a:r>
              <a:rPr lang="en-IN" dirty="0">
                <a:solidFill>
                  <a:schemeClr val="bg1"/>
                </a:solidFill>
              </a:rPr>
              <a:t>Y Greeshma Reddy</a:t>
            </a:r>
          </a:p>
          <a:p>
            <a:pPr algn="just"/>
            <a:r>
              <a:rPr lang="en-IN" dirty="0">
                <a:solidFill>
                  <a:schemeClr val="bg1"/>
                </a:solidFill>
              </a:rPr>
              <a:t>192424146</a:t>
            </a:r>
          </a:p>
          <a:p>
            <a:pPr algn="just"/>
            <a:r>
              <a:rPr lang="en-IN" dirty="0">
                <a:solidFill>
                  <a:schemeClr val="bg1"/>
                </a:solidFill>
              </a:rPr>
              <a:t>B Tech-AI&amp;DS</a:t>
            </a:r>
          </a:p>
        </p:txBody>
      </p:sp>
      <p:sp>
        <p:nvSpPr>
          <p:cNvPr id="2" name="TextBox 1">
            <a:extLst>
              <a:ext uri="{FF2B5EF4-FFF2-40B4-BE49-F238E27FC236}">
                <a16:creationId xmlns:a16="http://schemas.microsoft.com/office/drawing/2014/main" id="{4F16D62C-752D-41DF-0CFF-D16631003EA3}"/>
              </a:ext>
            </a:extLst>
          </p:cNvPr>
          <p:cNvSpPr txBox="1"/>
          <p:nvPr/>
        </p:nvSpPr>
        <p:spPr>
          <a:xfrm>
            <a:off x="999308" y="5166359"/>
            <a:ext cx="2749732" cy="923330"/>
          </a:xfrm>
          <a:prstGeom prst="rect">
            <a:avLst/>
          </a:prstGeom>
          <a:noFill/>
        </p:spPr>
        <p:txBody>
          <a:bodyPr wrap="square" rtlCol="0">
            <a:spAutoFit/>
          </a:bodyPr>
          <a:lstStyle/>
          <a:p>
            <a:r>
              <a:rPr lang="en-IN" dirty="0">
                <a:solidFill>
                  <a:schemeClr val="bg1"/>
                </a:solidFill>
              </a:rPr>
              <a:t>Guided By:</a:t>
            </a:r>
          </a:p>
          <a:p>
            <a:r>
              <a:rPr lang="en-IN">
                <a:solidFill>
                  <a:schemeClr val="bg1"/>
                </a:solidFill>
              </a:rPr>
              <a:t>Dr. Anbazhagan </a:t>
            </a:r>
            <a:r>
              <a:rPr lang="en-IN" dirty="0">
                <a:solidFill>
                  <a:schemeClr val="bg1"/>
                </a:solidFill>
              </a:rPr>
              <a:t>K</a:t>
            </a:r>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What Is Derivational Morphology?</a:t>
            </a:r>
            <a:endParaRPr lang="en-US" sz="3000" dirty="0"/>
          </a:p>
        </p:txBody>
      </p:sp>
      <p:sp>
        <p:nvSpPr>
          <p:cNvPr id="3" name="Text 1"/>
          <p:cNvSpPr/>
          <p:nvPr/>
        </p:nvSpPr>
        <p:spPr>
          <a:xfrm>
            <a:off x="548640" y="1051560"/>
            <a:ext cx="10515600" cy="365760"/>
          </a:xfrm>
          <a:prstGeom prst="rect">
            <a:avLst/>
          </a:prstGeom>
          <a:noFill/>
          <a:ln/>
        </p:spPr>
        <p:txBody>
          <a:bodyPr wrap="square" lIns="0" tIns="0" rIns="0" bIns="0" rtlCol="0" anchor="ctr"/>
          <a:lstStyle/>
          <a:p>
            <a:pPr marL="0" indent="0">
              <a:buNone/>
            </a:pPr>
            <a:r>
              <a:rPr lang="en-US" sz="1400" i="1" dirty="0">
                <a:solidFill>
                  <a:srgbClr val="5B6B8C"/>
                </a:solidFill>
                <a:latin typeface="Calibri" pitchFamily="34" charset="0"/>
                <a:ea typeface="Calibri" pitchFamily="34" charset="-122"/>
                <a:cs typeface="Calibri" pitchFamily="34" charset="-120"/>
              </a:rPr>
              <a:t>The process of creating new words by attaching affixes to a base or root</a:t>
            </a:r>
            <a:endParaRPr lang="en-US" sz="1400" dirty="0"/>
          </a:p>
        </p:txBody>
      </p:sp>
      <p:sp>
        <p:nvSpPr>
          <p:cNvPr id="4" name="Shape 2"/>
          <p:cNvSpPr/>
          <p:nvPr/>
        </p:nvSpPr>
        <p:spPr>
          <a:xfrm>
            <a:off x="548640" y="1691640"/>
            <a:ext cx="6035040" cy="4343400"/>
          </a:xfrm>
          <a:prstGeom prst="roundRect">
            <a:avLst>
              <a:gd name="adj" fmla="val 2105"/>
            </a:avLst>
          </a:prstGeom>
          <a:solidFill>
            <a:srgbClr val="E8ECF5"/>
          </a:solidFill>
          <a:ln/>
        </p:spPr>
      </p:sp>
      <p:sp>
        <p:nvSpPr>
          <p:cNvPr id="5" name="Text 3"/>
          <p:cNvSpPr/>
          <p:nvPr/>
        </p:nvSpPr>
        <p:spPr>
          <a:xfrm>
            <a:off x="868680" y="1920240"/>
            <a:ext cx="5394960" cy="320040"/>
          </a:xfrm>
          <a:prstGeom prst="rect">
            <a:avLst/>
          </a:prstGeom>
          <a:noFill/>
          <a:ln/>
        </p:spPr>
        <p:txBody>
          <a:bodyPr wrap="square" lIns="0" tIns="0" rIns="0" bIns="0" rtlCol="0" anchor="ctr"/>
          <a:lstStyle/>
          <a:p>
            <a:pPr marL="0" indent="0">
              <a:buNone/>
            </a:pPr>
            <a:r>
              <a:rPr lang="en-US" sz="1200" b="1" kern="0" spc="100" dirty="0">
                <a:solidFill>
                  <a:srgbClr val="C9A227"/>
                </a:solidFill>
                <a:latin typeface="Calibri" pitchFamily="34" charset="0"/>
                <a:ea typeface="Calibri" pitchFamily="34" charset="-122"/>
                <a:cs typeface="Calibri" pitchFamily="34" charset="-120"/>
              </a:rPr>
              <a:t>KEY IDEA</a:t>
            </a:r>
            <a:endParaRPr lang="en-US" sz="1200" dirty="0"/>
          </a:p>
        </p:txBody>
      </p:sp>
      <p:sp>
        <p:nvSpPr>
          <p:cNvPr id="6" name="Text 4"/>
          <p:cNvSpPr/>
          <p:nvPr/>
        </p:nvSpPr>
        <p:spPr>
          <a:xfrm>
            <a:off x="868680" y="2286000"/>
            <a:ext cx="5394960" cy="1005840"/>
          </a:xfrm>
          <a:prstGeom prst="rect">
            <a:avLst/>
          </a:prstGeom>
          <a:noFill/>
          <a:ln/>
        </p:spPr>
        <p:txBody>
          <a:bodyPr wrap="square" lIns="0" tIns="0" rIns="0" bIns="0" rtlCol="0" anchor="ctr"/>
          <a:lstStyle/>
          <a:p>
            <a:pPr marL="0" indent="0">
              <a:lnSpc>
                <a:spcPct val="125000"/>
              </a:lnSpc>
              <a:buNone/>
            </a:pPr>
            <a:r>
              <a:rPr lang="en-US" sz="1450" dirty="0">
                <a:solidFill>
                  <a:srgbClr val="23324F"/>
                </a:solidFill>
                <a:latin typeface="Calibri" pitchFamily="34" charset="0"/>
                <a:ea typeface="Calibri" pitchFamily="34" charset="-122"/>
                <a:cs typeface="Calibri" pitchFamily="34" charset="-120"/>
              </a:rPr>
              <a:t>Derivational morphemes are added to a root word to build an entirely new word — often shifting its meaning, its part of speech, or both.</a:t>
            </a:r>
            <a:endParaRPr lang="en-US" sz="1450" dirty="0"/>
          </a:p>
        </p:txBody>
      </p:sp>
      <p:sp>
        <p:nvSpPr>
          <p:cNvPr id="7" name="Text 5"/>
          <p:cNvSpPr/>
          <p:nvPr/>
        </p:nvSpPr>
        <p:spPr>
          <a:xfrm>
            <a:off x="868680" y="3429000"/>
            <a:ext cx="5394960" cy="320040"/>
          </a:xfrm>
          <a:prstGeom prst="rect">
            <a:avLst/>
          </a:prstGeom>
          <a:noFill/>
          <a:ln/>
        </p:spPr>
        <p:txBody>
          <a:bodyPr wrap="square" lIns="0" tIns="0" rIns="0" bIns="0" rtlCol="0" anchor="ctr"/>
          <a:lstStyle/>
          <a:p>
            <a:pPr marL="0" indent="0">
              <a:buNone/>
            </a:pPr>
            <a:r>
              <a:rPr lang="en-US" sz="1200" b="1" kern="0" spc="100" dirty="0">
                <a:solidFill>
                  <a:srgbClr val="C9A227"/>
                </a:solidFill>
                <a:latin typeface="Calibri" pitchFamily="34" charset="0"/>
                <a:ea typeface="Calibri" pitchFamily="34" charset="-122"/>
                <a:cs typeface="Calibri" pitchFamily="34" charset="-120"/>
              </a:rPr>
              <a:t>EXAMPLE CHAIN</a:t>
            </a:r>
            <a:endParaRPr lang="en-US" sz="1200" dirty="0"/>
          </a:p>
        </p:txBody>
      </p:sp>
      <p:sp>
        <p:nvSpPr>
          <p:cNvPr id="8" name="Shape 6"/>
          <p:cNvSpPr/>
          <p:nvPr/>
        </p:nvSpPr>
        <p:spPr>
          <a:xfrm>
            <a:off x="868680" y="3794760"/>
            <a:ext cx="2651760" cy="502920"/>
          </a:xfrm>
          <a:prstGeom prst="roundRect">
            <a:avLst>
              <a:gd name="adj" fmla="val 12727"/>
            </a:avLst>
          </a:prstGeom>
          <a:solidFill>
            <a:srgbClr val="FFFFFF"/>
          </a:solidFill>
          <a:ln w="12700">
            <a:solidFill>
              <a:srgbClr val="C7D0E6"/>
            </a:solidFill>
            <a:prstDash val="solid"/>
          </a:ln>
        </p:spPr>
      </p:sp>
      <p:sp>
        <p:nvSpPr>
          <p:cNvPr id="9" name="Text 7"/>
          <p:cNvSpPr/>
          <p:nvPr/>
        </p:nvSpPr>
        <p:spPr>
          <a:xfrm>
            <a:off x="868680" y="3794760"/>
            <a:ext cx="2651760" cy="502920"/>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happy</a:t>
            </a:r>
            <a:endParaRPr lang="en-US" sz="1400" dirty="0"/>
          </a:p>
        </p:txBody>
      </p:sp>
      <p:sp>
        <p:nvSpPr>
          <p:cNvPr id="10" name="Text 8"/>
          <p:cNvSpPr/>
          <p:nvPr/>
        </p:nvSpPr>
        <p:spPr>
          <a:xfrm>
            <a:off x="3566160" y="3794760"/>
            <a:ext cx="457200" cy="502920"/>
          </a:xfrm>
          <a:prstGeom prst="rect">
            <a:avLst/>
          </a:prstGeom>
          <a:noFill/>
          <a:ln/>
        </p:spPr>
        <p:txBody>
          <a:bodyPr wrap="square" lIns="0" tIns="0" rIns="0" bIns="0" rtlCol="0" anchor="ctr"/>
          <a:lstStyle/>
          <a:p>
            <a:pPr marL="0" indent="0" algn="ctr">
              <a:buNone/>
            </a:pPr>
            <a:r>
              <a:rPr lang="en-US" sz="1800" dirty="0">
                <a:solidFill>
                  <a:srgbClr val="C9A227"/>
                </a:solidFill>
                <a:latin typeface="Calibri" pitchFamily="34" charset="0"/>
                <a:ea typeface="Calibri" pitchFamily="34" charset="-122"/>
                <a:cs typeface="Calibri" pitchFamily="34" charset="-120"/>
              </a:rPr>
              <a:t>→</a:t>
            </a:r>
            <a:endParaRPr lang="en-US" sz="1800" dirty="0"/>
          </a:p>
        </p:txBody>
      </p:sp>
      <p:sp>
        <p:nvSpPr>
          <p:cNvPr id="11" name="Shape 9"/>
          <p:cNvSpPr/>
          <p:nvPr/>
        </p:nvSpPr>
        <p:spPr>
          <a:xfrm>
            <a:off x="868680" y="4507992"/>
            <a:ext cx="2651760" cy="502920"/>
          </a:xfrm>
          <a:prstGeom prst="roundRect">
            <a:avLst>
              <a:gd name="adj" fmla="val 12727"/>
            </a:avLst>
          </a:prstGeom>
          <a:solidFill>
            <a:srgbClr val="FFFFFF"/>
          </a:solidFill>
          <a:ln w="12700">
            <a:solidFill>
              <a:srgbClr val="C7D0E6"/>
            </a:solidFill>
            <a:prstDash val="solid"/>
          </a:ln>
        </p:spPr>
      </p:sp>
      <p:sp>
        <p:nvSpPr>
          <p:cNvPr id="12" name="Text 10"/>
          <p:cNvSpPr/>
          <p:nvPr/>
        </p:nvSpPr>
        <p:spPr>
          <a:xfrm>
            <a:off x="868680" y="4507992"/>
            <a:ext cx="2651760" cy="502920"/>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happiness</a:t>
            </a:r>
            <a:endParaRPr lang="en-US" sz="1400" dirty="0"/>
          </a:p>
        </p:txBody>
      </p:sp>
      <p:sp>
        <p:nvSpPr>
          <p:cNvPr id="13" name="Text 11"/>
          <p:cNvSpPr/>
          <p:nvPr/>
        </p:nvSpPr>
        <p:spPr>
          <a:xfrm>
            <a:off x="3566160" y="4507992"/>
            <a:ext cx="457200" cy="502920"/>
          </a:xfrm>
          <a:prstGeom prst="rect">
            <a:avLst/>
          </a:prstGeom>
          <a:noFill/>
          <a:ln/>
        </p:spPr>
        <p:txBody>
          <a:bodyPr wrap="square" lIns="0" tIns="0" rIns="0" bIns="0" rtlCol="0" anchor="ctr"/>
          <a:lstStyle/>
          <a:p>
            <a:pPr marL="0" indent="0" algn="ctr">
              <a:buNone/>
            </a:pPr>
            <a:r>
              <a:rPr lang="en-US" sz="1800" dirty="0">
                <a:solidFill>
                  <a:srgbClr val="C9A227"/>
                </a:solidFill>
                <a:latin typeface="Calibri" pitchFamily="34" charset="0"/>
                <a:ea typeface="Calibri" pitchFamily="34" charset="-122"/>
                <a:cs typeface="Calibri" pitchFamily="34" charset="-120"/>
              </a:rPr>
              <a:t>→</a:t>
            </a:r>
            <a:endParaRPr lang="en-US" sz="1800" dirty="0"/>
          </a:p>
        </p:txBody>
      </p:sp>
      <p:sp>
        <p:nvSpPr>
          <p:cNvPr id="14" name="Shape 12"/>
          <p:cNvSpPr/>
          <p:nvPr/>
        </p:nvSpPr>
        <p:spPr>
          <a:xfrm>
            <a:off x="868680" y="5221224"/>
            <a:ext cx="2651760" cy="502920"/>
          </a:xfrm>
          <a:prstGeom prst="roundRect">
            <a:avLst>
              <a:gd name="adj" fmla="val 12727"/>
            </a:avLst>
          </a:prstGeom>
          <a:solidFill>
            <a:srgbClr val="FFFFFF"/>
          </a:solidFill>
          <a:ln w="12700">
            <a:solidFill>
              <a:srgbClr val="C7D0E6"/>
            </a:solidFill>
            <a:prstDash val="solid"/>
          </a:ln>
        </p:spPr>
      </p:sp>
      <p:sp>
        <p:nvSpPr>
          <p:cNvPr id="15" name="Text 13"/>
          <p:cNvSpPr/>
          <p:nvPr/>
        </p:nvSpPr>
        <p:spPr>
          <a:xfrm>
            <a:off x="868680" y="5221224"/>
            <a:ext cx="2651760" cy="502920"/>
          </a:xfrm>
          <a:prstGeom prst="rect">
            <a:avLst/>
          </a:prstGeom>
          <a:noFill/>
          <a:ln/>
        </p:spPr>
        <p:txBody>
          <a:bodyPr wrap="square" lIns="0" tIns="0" rIns="0" bIns="0" rtlCol="0" anchor="ctr"/>
          <a:lstStyle/>
          <a:p>
            <a:pPr marL="0" indent="0" algn="ctr">
              <a:buNone/>
            </a:pPr>
            <a:r>
              <a:rPr lang="en-US" sz="1400" b="1" dirty="0">
                <a:solidFill>
                  <a:srgbClr val="1B2A4A"/>
                </a:solidFill>
                <a:latin typeface="Calibri" pitchFamily="34" charset="0"/>
                <a:ea typeface="Calibri" pitchFamily="34" charset="-122"/>
                <a:cs typeface="Calibri" pitchFamily="34" charset="-120"/>
              </a:rPr>
              <a:t>unhappiness</a:t>
            </a:r>
            <a:endParaRPr lang="en-US" sz="1400" dirty="0"/>
          </a:p>
        </p:txBody>
      </p:sp>
      <p:sp>
        <p:nvSpPr>
          <p:cNvPr id="16" name="Shape 14"/>
          <p:cNvSpPr/>
          <p:nvPr/>
        </p:nvSpPr>
        <p:spPr>
          <a:xfrm>
            <a:off x="6858000" y="1691640"/>
            <a:ext cx="4800600" cy="4343400"/>
          </a:xfrm>
          <a:prstGeom prst="roundRect">
            <a:avLst>
              <a:gd name="adj" fmla="val 2105"/>
            </a:avLst>
          </a:prstGeom>
          <a:solidFill>
            <a:srgbClr val="1B2A4A"/>
          </a:solidFill>
          <a:ln/>
        </p:spPr>
      </p:sp>
      <p:sp>
        <p:nvSpPr>
          <p:cNvPr id="17" name="Text 15"/>
          <p:cNvSpPr/>
          <p:nvPr/>
        </p:nvSpPr>
        <p:spPr>
          <a:xfrm>
            <a:off x="7178040" y="1920240"/>
            <a:ext cx="4206240" cy="365760"/>
          </a:xfrm>
          <a:prstGeom prst="rect">
            <a:avLst/>
          </a:prstGeom>
          <a:noFill/>
          <a:ln/>
        </p:spPr>
        <p:txBody>
          <a:bodyPr wrap="square" lIns="0" tIns="0" rIns="0" bIns="0" rtlCol="0" anchor="ctr"/>
          <a:lstStyle/>
          <a:p>
            <a:pPr marL="0" indent="0">
              <a:buNone/>
            </a:pPr>
            <a:r>
              <a:rPr lang="en-US" sz="1200" b="1" kern="0" spc="100" dirty="0">
                <a:solidFill>
                  <a:srgbClr val="E4C874"/>
                </a:solidFill>
                <a:latin typeface="Calibri" pitchFamily="34" charset="0"/>
                <a:ea typeface="Calibri" pitchFamily="34" charset="-122"/>
                <a:cs typeface="Calibri" pitchFamily="34" charset="-120"/>
              </a:rPr>
              <a:t>DERIVATIONAL vs. INFLECTIONAL</a:t>
            </a:r>
            <a:endParaRPr lang="en-US" sz="1200" dirty="0"/>
          </a:p>
        </p:txBody>
      </p:sp>
      <p:sp>
        <p:nvSpPr>
          <p:cNvPr id="18" name="Shape 16"/>
          <p:cNvSpPr/>
          <p:nvPr/>
        </p:nvSpPr>
        <p:spPr>
          <a:xfrm>
            <a:off x="7178040" y="2423160"/>
            <a:ext cx="411480" cy="411480"/>
          </a:xfrm>
          <a:prstGeom prst="ellipse">
            <a:avLst/>
          </a:prstGeom>
          <a:solidFill>
            <a:srgbClr val="C9A227"/>
          </a:solidFill>
          <a:ln/>
        </p:spPr>
      </p:sp>
      <p:sp>
        <p:nvSpPr>
          <p:cNvPr id="19" name="Text 17"/>
          <p:cNvSpPr/>
          <p:nvPr/>
        </p:nvSpPr>
        <p:spPr>
          <a:xfrm>
            <a:off x="7178040" y="2423160"/>
            <a:ext cx="411480" cy="411480"/>
          </a:xfrm>
          <a:prstGeom prst="rect">
            <a:avLst/>
          </a:prstGeom>
          <a:noFill/>
          <a:ln/>
        </p:spPr>
        <p:txBody>
          <a:bodyPr wrap="square" lIns="0" tIns="0" rIns="0" bIns="0" rtlCol="0" anchor="ctr"/>
          <a:lstStyle/>
          <a:p>
            <a:pPr marL="0" indent="0" algn="ctr">
              <a:buNone/>
            </a:pPr>
            <a:r>
              <a:rPr lang="en-US" sz="1600" b="1" dirty="0">
                <a:solidFill>
                  <a:srgbClr val="142038"/>
                </a:solidFill>
                <a:latin typeface="Cambria" pitchFamily="34" charset="0"/>
                <a:ea typeface="Cambria" pitchFamily="34" charset="-122"/>
                <a:cs typeface="Cambria" pitchFamily="34" charset="-120"/>
              </a:rPr>
              <a:t>D</a:t>
            </a:r>
            <a:endParaRPr lang="en-US" sz="1600" dirty="0"/>
          </a:p>
        </p:txBody>
      </p:sp>
      <p:sp>
        <p:nvSpPr>
          <p:cNvPr id="20" name="Text 18"/>
          <p:cNvSpPr/>
          <p:nvPr/>
        </p:nvSpPr>
        <p:spPr>
          <a:xfrm>
            <a:off x="7726680" y="2395728"/>
            <a:ext cx="374904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Derivational</a:t>
            </a:r>
            <a:endParaRPr lang="en-US" sz="1400" dirty="0"/>
          </a:p>
        </p:txBody>
      </p:sp>
      <p:sp>
        <p:nvSpPr>
          <p:cNvPr id="21" name="Text 19"/>
          <p:cNvSpPr/>
          <p:nvPr/>
        </p:nvSpPr>
        <p:spPr>
          <a:xfrm>
            <a:off x="7726680" y="2697480"/>
            <a:ext cx="3749040" cy="777240"/>
          </a:xfrm>
          <a:prstGeom prst="rect">
            <a:avLst/>
          </a:prstGeom>
          <a:noFill/>
          <a:ln/>
        </p:spPr>
        <p:txBody>
          <a:bodyPr wrap="square" lIns="0" tIns="0" rIns="0" bIns="0" rtlCol="0" anchor="ctr"/>
          <a:lstStyle/>
          <a:p>
            <a:pPr marL="0" indent="0">
              <a:lnSpc>
                <a:spcPct val="115000"/>
              </a:lnSpc>
              <a:buNone/>
            </a:pPr>
            <a:r>
              <a:rPr lang="en-US" sz="1200" dirty="0">
                <a:solidFill>
                  <a:srgbClr val="C4CCE4"/>
                </a:solidFill>
                <a:latin typeface="Calibri" pitchFamily="34" charset="0"/>
                <a:ea typeface="Calibri" pitchFamily="34" charset="-122"/>
                <a:cs typeface="Calibri" pitchFamily="34" charset="-120"/>
              </a:rPr>
              <a:t>Creates a new word; often changes word class (kind → kindness)</a:t>
            </a:r>
            <a:endParaRPr lang="en-US" sz="1200" dirty="0"/>
          </a:p>
        </p:txBody>
      </p:sp>
      <p:sp>
        <p:nvSpPr>
          <p:cNvPr id="22" name="Shape 20"/>
          <p:cNvSpPr/>
          <p:nvPr/>
        </p:nvSpPr>
        <p:spPr>
          <a:xfrm>
            <a:off x="7178040" y="3749040"/>
            <a:ext cx="411480" cy="411480"/>
          </a:xfrm>
          <a:prstGeom prst="ellipse">
            <a:avLst/>
          </a:prstGeom>
          <a:solidFill>
            <a:srgbClr val="C9A227"/>
          </a:solidFill>
          <a:ln/>
        </p:spPr>
      </p:sp>
      <p:sp>
        <p:nvSpPr>
          <p:cNvPr id="23" name="Text 21"/>
          <p:cNvSpPr/>
          <p:nvPr/>
        </p:nvSpPr>
        <p:spPr>
          <a:xfrm>
            <a:off x="7178040" y="3749040"/>
            <a:ext cx="411480" cy="411480"/>
          </a:xfrm>
          <a:prstGeom prst="rect">
            <a:avLst/>
          </a:prstGeom>
          <a:noFill/>
          <a:ln/>
        </p:spPr>
        <p:txBody>
          <a:bodyPr wrap="square" lIns="0" tIns="0" rIns="0" bIns="0" rtlCol="0" anchor="ctr"/>
          <a:lstStyle/>
          <a:p>
            <a:pPr marL="0" indent="0" algn="ctr">
              <a:buNone/>
            </a:pPr>
            <a:r>
              <a:rPr lang="en-US" sz="1600" b="1" dirty="0">
                <a:solidFill>
                  <a:srgbClr val="142038"/>
                </a:solidFill>
                <a:latin typeface="Cambria" pitchFamily="34" charset="0"/>
                <a:ea typeface="Cambria" pitchFamily="34" charset="-122"/>
                <a:cs typeface="Cambria" pitchFamily="34" charset="-120"/>
              </a:rPr>
              <a:t>I</a:t>
            </a:r>
            <a:endParaRPr lang="en-US" sz="1600" dirty="0"/>
          </a:p>
        </p:txBody>
      </p:sp>
      <p:sp>
        <p:nvSpPr>
          <p:cNvPr id="24" name="Text 22"/>
          <p:cNvSpPr/>
          <p:nvPr/>
        </p:nvSpPr>
        <p:spPr>
          <a:xfrm>
            <a:off x="7726680" y="3721608"/>
            <a:ext cx="374904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Inflectional</a:t>
            </a:r>
            <a:endParaRPr lang="en-US" sz="1400" dirty="0"/>
          </a:p>
        </p:txBody>
      </p:sp>
      <p:sp>
        <p:nvSpPr>
          <p:cNvPr id="25" name="Text 23"/>
          <p:cNvSpPr/>
          <p:nvPr/>
        </p:nvSpPr>
        <p:spPr>
          <a:xfrm>
            <a:off x="7726680" y="4023360"/>
            <a:ext cx="3749040" cy="777240"/>
          </a:xfrm>
          <a:prstGeom prst="rect">
            <a:avLst/>
          </a:prstGeom>
          <a:noFill/>
          <a:ln/>
        </p:spPr>
        <p:txBody>
          <a:bodyPr wrap="square" lIns="0" tIns="0" rIns="0" bIns="0" rtlCol="0" anchor="ctr"/>
          <a:lstStyle/>
          <a:p>
            <a:pPr marL="0" indent="0">
              <a:lnSpc>
                <a:spcPct val="115000"/>
              </a:lnSpc>
              <a:buNone/>
            </a:pPr>
            <a:r>
              <a:rPr lang="en-US" sz="1200" dirty="0">
                <a:solidFill>
                  <a:srgbClr val="C4CCE4"/>
                </a:solidFill>
                <a:latin typeface="Calibri" pitchFamily="34" charset="0"/>
                <a:ea typeface="Calibri" pitchFamily="34" charset="-122"/>
                <a:cs typeface="Calibri" pitchFamily="34" charset="-120"/>
              </a:rPr>
              <a:t>Modifies the same word for grammar; class stays the same (walk → walked)</a:t>
            </a:r>
            <a:endParaRPr lang="en-US" sz="1200" dirty="0"/>
          </a:p>
        </p:txBody>
      </p:sp>
      <p:sp>
        <p:nvSpPr>
          <p:cNvPr id="26" name="Text 24"/>
          <p:cNvSpPr/>
          <p:nvPr/>
        </p:nvSpPr>
        <p:spPr>
          <a:xfrm>
            <a:off x="7178040" y="5166360"/>
            <a:ext cx="4206240" cy="685800"/>
          </a:xfrm>
          <a:prstGeom prst="rect">
            <a:avLst/>
          </a:prstGeom>
          <a:noFill/>
          <a:ln/>
        </p:spPr>
        <p:txBody>
          <a:bodyPr wrap="square" lIns="0" tIns="0" rIns="0" bIns="0" rtlCol="0" anchor="ctr"/>
          <a:lstStyle/>
          <a:p>
            <a:pPr marL="0" indent="0">
              <a:buNone/>
            </a:pPr>
            <a:r>
              <a:rPr lang="en-US" sz="1150" i="1" dirty="0">
                <a:solidFill>
                  <a:srgbClr val="9FADD1"/>
                </a:solidFill>
                <a:latin typeface="Calibri" pitchFamily="34" charset="0"/>
                <a:ea typeface="Calibri" pitchFamily="34" charset="-122"/>
                <a:cs typeface="Calibri" pitchFamily="34" charset="-120"/>
              </a:rPr>
              <a:t>Both processes use affixes — but only derivation builds fresh vocabulary items.</a:t>
            </a:r>
            <a:endParaRPr lang="en-US" sz="1150" dirty="0"/>
          </a:p>
        </p:txBody>
      </p:sp>
      <p:sp>
        <p:nvSpPr>
          <p:cNvPr id="27" name="Text 25"/>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A6AFC6"/>
                </a:solidFill>
                <a:latin typeface="Calibri" pitchFamily="34" charset="0"/>
                <a:ea typeface="Calibri" pitchFamily="34" charset="-122"/>
                <a:cs typeface="Calibri" pitchFamily="34" charset="-120"/>
              </a:rPr>
              <a:t>DERIVATIONAL MORPHOLOGY</a:t>
            </a:r>
            <a:endParaRPr lang="en-US" sz="900" dirty="0"/>
          </a:p>
        </p:txBody>
      </p:sp>
      <p:sp>
        <p:nvSpPr>
          <p:cNvPr id="28" name="Text 26"/>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900" dirty="0">
                <a:solidFill>
                  <a:srgbClr val="A6AFC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Prefixes: Reshaping Meaning</a:t>
            </a:r>
            <a:endParaRPr lang="en-US" sz="3000" dirty="0"/>
          </a:p>
        </p:txBody>
      </p:sp>
      <p:sp>
        <p:nvSpPr>
          <p:cNvPr id="3" name="Text 1"/>
          <p:cNvSpPr/>
          <p:nvPr/>
        </p:nvSpPr>
        <p:spPr>
          <a:xfrm>
            <a:off x="548640" y="1051560"/>
            <a:ext cx="10515600" cy="365760"/>
          </a:xfrm>
          <a:prstGeom prst="rect">
            <a:avLst/>
          </a:prstGeom>
          <a:noFill/>
          <a:ln/>
        </p:spPr>
        <p:txBody>
          <a:bodyPr wrap="square" lIns="0" tIns="0" rIns="0" bIns="0" rtlCol="0" anchor="ctr"/>
          <a:lstStyle/>
          <a:p>
            <a:pPr marL="0" indent="0">
              <a:buNone/>
            </a:pPr>
            <a:r>
              <a:rPr lang="en-US" sz="1400" i="1" dirty="0">
                <a:solidFill>
                  <a:srgbClr val="5B6B8C"/>
                </a:solidFill>
                <a:latin typeface="Calibri" pitchFamily="34" charset="0"/>
                <a:ea typeface="Calibri" pitchFamily="34" charset="-122"/>
                <a:cs typeface="Calibri" pitchFamily="34" charset="-120"/>
              </a:rPr>
              <a:t>Attached before the root — prefixes usually change meaning, not word class</a:t>
            </a:r>
            <a:endParaRPr lang="en-US" sz="1400" dirty="0"/>
          </a:p>
        </p:txBody>
      </p:sp>
      <p:sp>
        <p:nvSpPr>
          <p:cNvPr id="4" name="Shape 2"/>
          <p:cNvSpPr/>
          <p:nvPr/>
        </p:nvSpPr>
        <p:spPr>
          <a:xfrm>
            <a:off x="548640" y="1874520"/>
            <a:ext cx="2606040" cy="3566160"/>
          </a:xfrm>
          <a:prstGeom prst="roundRect">
            <a:avLst>
              <a:gd name="adj" fmla="val 3509"/>
            </a:avLst>
          </a:prstGeom>
          <a:solidFill>
            <a:srgbClr val="E8ECF5"/>
          </a:solidFill>
          <a:ln/>
        </p:spPr>
      </p:sp>
      <p:sp>
        <p:nvSpPr>
          <p:cNvPr id="5" name="Shape 3"/>
          <p:cNvSpPr/>
          <p:nvPr/>
        </p:nvSpPr>
        <p:spPr>
          <a:xfrm>
            <a:off x="1440180" y="2194560"/>
            <a:ext cx="822960" cy="822960"/>
          </a:xfrm>
          <a:prstGeom prst="ellipse">
            <a:avLst/>
          </a:prstGeom>
          <a:solidFill>
            <a:srgbClr val="1B2A4A"/>
          </a:solidFill>
          <a:ln/>
        </p:spPr>
      </p:sp>
      <p:sp>
        <p:nvSpPr>
          <p:cNvPr id="6" name="Text 4"/>
          <p:cNvSpPr/>
          <p:nvPr/>
        </p:nvSpPr>
        <p:spPr>
          <a:xfrm>
            <a:off x="1440180" y="2194560"/>
            <a:ext cx="822960" cy="822960"/>
          </a:xfrm>
          <a:prstGeom prst="rect">
            <a:avLst/>
          </a:prstGeom>
          <a:noFill/>
          <a:ln/>
        </p:spPr>
        <p:txBody>
          <a:bodyPr wrap="square" lIns="0" tIns="0" rIns="0" bIns="0" rtlCol="0" anchor="ctr"/>
          <a:lstStyle/>
          <a:p>
            <a:pPr marL="0" indent="0" algn="ctr">
              <a:buNone/>
            </a:pPr>
            <a:r>
              <a:rPr lang="en-US" sz="1500" b="1" dirty="0">
                <a:solidFill>
                  <a:srgbClr val="E4C874"/>
                </a:solidFill>
                <a:latin typeface="Cambria" pitchFamily="34" charset="0"/>
                <a:ea typeface="Cambria" pitchFamily="34" charset="-122"/>
                <a:cs typeface="Cambria" pitchFamily="34" charset="-120"/>
              </a:rPr>
              <a:t>un-</a:t>
            </a:r>
            <a:endParaRPr lang="en-US" sz="1500" dirty="0"/>
          </a:p>
        </p:txBody>
      </p:sp>
      <p:sp>
        <p:nvSpPr>
          <p:cNvPr id="7" name="Text 5"/>
          <p:cNvSpPr/>
          <p:nvPr/>
        </p:nvSpPr>
        <p:spPr>
          <a:xfrm>
            <a:off x="731520" y="3291840"/>
            <a:ext cx="2240280" cy="640080"/>
          </a:xfrm>
          <a:prstGeom prst="rect">
            <a:avLst/>
          </a:prstGeom>
          <a:noFill/>
          <a:ln/>
        </p:spPr>
        <p:txBody>
          <a:bodyPr wrap="square" lIns="0" tIns="0" rIns="0" bIns="0" rtlCol="0" anchor="ctr"/>
          <a:lstStyle/>
          <a:p>
            <a:pPr marL="0" indent="0" algn="ctr">
              <a:buNone/>
            </a:pPr>
            <a:r>
              <a:rPr lang="en-US" sz="1300" b="1" dirty="0">
                <a:solidFill>
                  <a:srgbClr val="1B2A4A"/>
                </a:solidFill>
                <a:latin typeface="Calibri" pitchFamily="34" charset="0"/>
                <a:ea typeface="Calibri" pitchFamily="34" charset="-122"/>
                <a:cs typeface="Calibri" pitchFamily="34" charset="-120"/>
              </a:rPr>
              <a:t>not / opposite of</a:t>
            </a:r>
            <a:endParaRPr lang="en-US" sz="1300" dirty="0"/>
          </a:p>
        </p:txBody>
      </p:sp>
      <p:sp>
        <p:nvSpPr>
          <p:cNvPr id="8" name="Shape 6"/>
          <p:cNvSpPr/>
          <p:nvPr/>
        </p:nvSpPr>
        <p:spPr>
          <a:xfrm>
            <a:off x="1005840" y="4023360"/>
            <a:ext cx="1691640" cy="0"/>
          </a:xfrm>
          <a:prstGeom prst="line">
            <a:avLst/>
          </a:prstGeom>
          <a:noFill/>
          <a:ln w="12700">
            <a:solidFill>
              <a:srgbClr val="C7D0E6"/>
            </a:solidFill>
            <a:prstDash val="solid"/>
          </a:ln>
        </p:spPr>
      </p:sp>
      <p:sp>
        <p:nvSpPr>
          <p:cNvPr id="9" name="Text 7"/>
          <p:cNvSpPr/>
          <p:nvPr/>
        </p:nvSpPr>
        <p:spPr>
          <a:xfrm>
            <a:off x="731520" y="4206240"/>
            <a:ext cx="2240280" cy="1005840"/>
          </a:xfrm>
          <a:prstGeom prst="rect">
            <a:avLst/>
          </a:prstGeom>
          <a:noFill/>
          <a:ln/>
        </p:spPr>
        <p:txBody>
          <a:bodyPr wrap="square" lIns="0" tIns="0" rIns="0" bIns="0" rtlCol="0" anchor="ctr"/>
          <a:lstStyle/>
          <a:p>
            <a:pPr marL="0" indent="0" algn="ctr">
              <a:lnSpc>
                <a:spcPct val="120000"/>
              </a:lnSpc>
              <a:buNone/>
            </a:pPr>
            <a:r>
              <a:rPr lang="en-US" sz="1250" dirty="0">
                <a:solidFill>
                  <a:srgbClr val="23324F"/>
                </a:solidFill>
                <a:latin typeface="Calibri" pitchFamily="34" charset="0"/>
                <a:ea typeface="Calibri" pitchFamily="34" charset="-122"/>
                <a:cs typeface="Calibri" pitchFamily="34" charset="-120"/>
              </a:rPr>
              <a:t>happy → unhappy</a:t>
            </a:r>
            <a:endParaRPr lang="en-US" sz="1250" dirty="0"/>
          </a:p>
        </p:txBody>
      </p:sp>
      <p:sp>
        <p:nvSpPr>
          <p:cNvPr id="10" name="Shape 8"/>
          <p:cNvSpPr/>
          <p:nvPr/>
        </p:nvSpPr>
        <p:spPr>
          <a:xfrm>
            <a:off x="3410712" y="1874520"/>
            <a:ext cx="2606040" cy="3566160"/>
          </a:xfrm>
          <a:prstGeom prst="roundRect">
            <a:avLst>
              <a:gd name="adj" fmla="val 3509"/>
            </a:avLst>
          </a:prstGeom>
          <a:solidFill>
            <a:srgbClr val="E8ECF5"/>
          </a:solidFill>
          <a:ln/>
        </p:spPr>
      </p:sp>
      <p:sp>
        <p:nvSpPr>
          <p:cNvPr id="11" name="Shape 9"/>
          <p:cNvSpPr/>
          <p:nvPr/>
        </p:nvSpPr>
        <p:spPr>
          <a:xfrm>
            <a:off x="4302252" y="2194560"/>
            <a:ext cx="822960" cy="822960"/>
          </a:xfrm>
          <a:prstGeom prst="ellipse">
            <a:avLst/>
          </a:prstGeom>
          <a:solidFill>
            <a:srgbClr val="1B2A4A"/>
          </a:solidFill>
          <a:ln/>
        </p:spPr>
      </p:sp>
      <p:sp>
        <p:nvSpPr>
          <p:cNvPr id="12" name="Text 10"/>
          <p:cNvSpPr/>
          <p:nvPr/>
        </p:nvSpPr>
        <p:spPr>
          <a:xfrm>
            <a:off x="4302252" y="2194560"/>
            <a:ext cx="822960" cy="822960"/>
          </a:xfrm>
          <a:prstGeom prst="rect">
            <a:avLst/>
          </a:prstGeom>
          <a:noFill/>
          <a:ln/>
        </p:spPr>
        <p:txBody>
          <a:bodyPr wrap="square" lIns="0" tIns="0" rIns="0" bIns="0" rtlCol="0" anchor="ctr"/>
          <a:lstStyle/>
          <a:p>
            <a:pPr marL="0" indent="0" algn="ctr">
              <a:buNone/>
            </a:pPr>
            <a:r>
              <a:rPr lang="en-US" sz="1500" b="1" dirty="0">
                <a:solidFill>
                  <a:srgbClr val="E4C874"/>
                </a:solidFill>
                <a:latin typeface="Cambria" pitchFamily="34" charset="0"/>
                <a:ea typeface="Cambria" pitchFamily="34" charset="-122"/>
                <a:cs typeface="Cambria" pitchFamily="34" charset="-120"/>
              </a:rPr>
              <a:t>re-</a:t>
            </a:r>
            <a:endParaRPr lang="en-US" sz="1500" dirty="0"/>
          </a:p>
        </p:txBody>
      </p:sp>
      <p:sp>
        <p:nvSpPr>
          <p:cNvPr id="13" name="Text 11"/>
          <p:cNvSpPr/>
          <p:nvPr/>
        </p:nvSpPr>
        <p:spPr>
          <a:xfrm>
            <a:off x="3593592" y="3291840"/>
            <a:ext cx="2240280" cy="640080"/>
          </a:xfrm>
          <a:prstGeom prst="rect">
            <a:avLst/>
          </a:prstGeom>
          <a:noFill/>
          <a:ln/>
        </p:spPr>
        <p:txBody>
          <a:bodyPr wrap="square" lIns="0" tIns="0" rIns="0" bIns="0" rtlCol="0" anchor="ctr"/>
          <a:lstStyle/>
          <a:p>
            <a:pPr marL="0" indent="0" algn="ctr">
              <a:buNone/>
            </a:pPr>
            <a:r>
              <a:rPr lang="en-US" sz="1300" b="1" dirty="0">
                <a:solidFill>
                  <a:srgbClr val="1B2A4A"/>
                </a:solidFill>
                <a:latin typeface="Calibri" pitchFamily="34" charset="0"/>
                <a:ea typeface="Calibri" pitchFamily="34" charset="-122"/>
                <a:cs typeface="Calibri" pitchFamily="34" charset="-120"/>
              </a:rPr>
              <a:t>again / back</a:t>
            </a:r>
            <a:endParaRPr lang="en-US" sz="1300" dirty="0"/>
          </a:p>
        </p:txBody>
      </p:sp>
      <p:sp>
        <p:nvSpPr>
          <p:cNvPr id="14" name="Shape 12"/>
          <p:cNvSpPr/>
          <p:nvPr/>
        </p:nvSpPr>
        <p:spPr>
          <a:xfrm>
            <a:off x="3867912" y="4023360"/>
            <a:ext cx="1691640" cy="0"/>
          </a:xfrm>
          <a:prstGeom prst="line">
            <a:avLst/>
          </a:prstGeom>
          <a:noFill/>
          <a:ln w="12700">
            <a:solidFill>
              <a:srgbClr val="C7D0E6"/>
            </a:solidFill>
            <a:prstDash val="solid"/>
          </a:ln>
        </p:spPr>
      </p:sp>
      <p:sp>
        <p:nvSpPr>
          <p:cNvPr id="15" name="Text 13"/>
          <p:cNvSpPr/>
          <p:nvPr/>
        </p:nvSpPr>
        <p:spPr>
          <a:xfrm>
            <a:off x="3593592" y="4206240"/>
            <a:ext cx="2240280" cy="1005840"/>
          </a:xfrm>
          <a:prstGeom prst="rect">
            <a:avLst/>
          </a:prstGeom>
          <a:noFill/>
          <a:ln/>
        </p:spPr>
        <p:txBody>
          <a:bodyPr wrap="square" lIns="0" tIns="0" rIns="0" bIns="0" rtlCol="0" anchor="ctr"/>
          <a:lstStyle/>
          <a:p>
            <a:pPr marL="0" indent="0" algn="ctr">
              <a:lnSpc>
                <a:spcPct val="120000"/>
              </a:lnSpc>
              <a:buNone/>
            </a:pPr>
            <a:r>
              <a:rPr lang="en-US" sz="1250" dirty="0">
                <a:solidFill>
                  <a:srgbClr val="23324F"/>
                </a:solidFill>
                <a:latin typeface="Calibri" pitchFamily="34" charset="0"/>
                <a:ea typeface="Calibri" pitchFamily="34" charset="-122"/>
                <a:cs typeface="Calibri" pitchFamily="34" charset="-120"/>
              </a:rPr>
              <a:t>write → rewrite</a:t>
            </a:r>
            <a:endParaRPr lang="en-US" sz="1250" dirty="0"/>
          </a:p>
        </p:txBody>
      </p:sp>
      <p:sp>
        <p:nvSpPr>
          <p:cNvPr id="16" name="Shape 14"/>
          <p:cNvSpPr/>
          <p:nvPr/>
        </p:nvSpPr>
        <p:spPr>
          <a:xfrm>
            <a:off x="6272784" y="1874520"/>
            <a:ext cx="2606040" cy="3566160"/>
          </a:xfrm>
          <a:prstGeom prst="roundRect">
            <a:avLst>
              <a:gd name="adj" fmla="val 3509"/>
            </a:avLst>
          </a:prstGeom>
          <a:solidFill>
            <a:srgbClr val="E8ECF5"/>
          </a:solidFill>
          <a:ln/>
        </p:spPr>
      </p:sp>
      <p:sp>
        <p:nvSpPr>
          <p:cNvPr id="17" name="Shape 15"/>
          <p:cNvSpPr/>
          <p:nvPr/>
        </p:nvSpPr>
        <p:spPr>
          <a:xfrm>
            <a:off x="7164324" y="2194560"/>
            <a:ext cx="822960" cy="822960"/>
          </a:xfrm>
          <a:prstGeom prst="ellipse">
            <a:avLst/>
          </a:prstGeom>
          <a:solidFill>
            <a:srgbClr val="1B2A4A"/>
          </a:solidFill>
          <a:ln/>
        </p:spPr>
      </p:sp>
      <p:sp>
        <p:nvSpPr>
          <p:cNvPr id="18" name="Text 16"/>
          <p:cNvSpPr/>
          <p:nvPr/>
        </p:nvSpPr>
        <p:spPr>
          <a:xfrm>
            <a:off x="7164324" y="2194560"/>
            <a:ext cx="822960" cy="822960"/>
          </a:xfrm>
          <a:prstGeom prst="rect">
            <a:avLst/>
          </a:prstGeom>
          <a:noFill/>
          <a:ln/>
        </p:spPr>
        <p:txBody>
          <a:bodyPr wrap="square" lIns="0" tIns="0" rIns="0" bIns="0" rtlCol="0" anchor="ctr"/>
          <a:lstStyle/>
          <a:p>
            <a:pPr marL="0" indent="0" algn="ctr">
              <a:buNone/>
            </a:pPr>
            <a:r>
              <a:rPr lang="en-US" sz="1500" b="1" dirty="0">
                <a:solidFill>
                  <a:srgbClr val="E4C874"/>
                </a:solidFill>
                <a:latin typeface="Cambria" pitchFamily="34" charset="0"/>
                <a:ea typeface="Cambria" pitchFamily="34" charset="-122"/>
                <a:cs typeface="Cambria" pitchFamily="34" charset="-120"/>
              </a:rPr>
              <a:t>mis-</a:t>
            </a:r>
            <a:endParaRPr lang="en-US" sz="1500" dirty="0"/>
          </a:p>
        </p:txBody>
      </p:sp>
      <p:sp>
        <p:nvSpPr>
          <p:cNvPr id="19" name="Text 17"/>
          <p:cNvSpPr/>
          <p:nvPr/>
        </p:nvSpPr>
        <p:spPr>
          <a:xfrm>
            <a:off x="6455664" y="3291840"/>
            <a:ext cx="2240280" cy="640080"/>
          </a:xfrm>
          <a:prstGeom prst="rect">
            <a:avLst/>
          </a:prstGeom>
          <a:noFill/>
          <a:ln/>
        </p:spPr>
        <p:txBody>
          <a:bodyPr wrap="square" lIns="0" tIns="0" rIns="0" bIns="0" rtlCol="0" anchor="ctr"/>
          <a:lstStyle/>
          <a:p>
            <a:pPr marL="0" indent="0" algn="ctr">
              <a:buNone/>
            </a:pPr>
            <a:r>
              <a:rPr lang="en-US" sz="1300" b="1" dirty="0">
                <a:solidFill>
                  <a:srgbClr val="1B2A4A"/>
                </a:solidFill>
                <a:latin typeface="Calibri" pitchFamily="34" charset="0"/>
                <a:ea typeface="Calibri" pitchFamily="34" charset="-122"/>
                <a:cs typeface="Calibri" pitchFamily="34" charset="-120"/>
              </a:rPr>
              <a:t>wrongly</a:t>
            </a:r>
            <a:endParaRPr lang="en-US" sz="1300" dirty="0"/>
          </a:p>
        </p:txBody>
      </p:sp>
      <p:sp>
        <p:nvSpPr>
          <p:cNvPr id="20" name="Shape 18"/>
          <p:cNvSpPr/>
          <p:nvPr/>
        </p:nvSpPr>
        <p:spPr>
          <a:xfrm>
            <a:off x="6729984" y="4023360"/>
            <a:ext cx="1691640" cy="0"/>
          </a:xfrm>
          <a:prstGeom prst="line">
            <a:avLst/>
          </a:prstGeom>
          <a:noFill/>
          <a:ln w="12700">
            <a:solidFill>
              <a:srgbClr val="C7D0E6"/>
            </a:solidFill>
            <a:prstDash val="solid"/>
          </a:ln>
        </p:spPr>
      </p:sp>
      <p:sp>
        <p:nvSpPr>
          <p:cNvPr id="21" name="Text 19"/>
          <p:cNvSpPr/>
          <p:nvPr/>
        </p:nvSpPr>
        <p:spPr>
          <a:xfrm>
            <a:off x="6455664" y="4206240"/>
            <a:ext cx="2240280" cy="1005840"/>
          </a:xfrm>
          <a:prstGeom prst="rect">
            <a:avLst/>
          </a:prstGeom>
          <a:noFill/>
          <a:ln/>
        </p:spPr>
        <p:txBody>
          <a:bodyPr wrap="square" lIns="0" tIns="0" rIns="0" bIns="0" rtlCol="0" anchor="ctr"/>
          <a:lstStyle/>
          <a:p>
            <a:pPr marL="0" indent="0" algn="ctr">
              <a:lnSpc>
                <a:spcPct val="120000"/>
              </a:lnSpc>
              <a:buNone/>
            </a:pPr>
            <a:r>
              <a:rPr lang="en-US" sz="1250" dirty="0">
                <a:solidFill>
                  <a:srgbClr val="23324F"/>
                </a:solidFill>
                <a:latin typeface="Calibri" pitchFamily="34" charset="0"/>
                <a:ea typeface="Calibri" pitchFamily="34" charset="-122"/>
                <a:cs typeface="Calibri" pitchFamily="34" charset="-120"/>
              </a:rPr>
              <a:t>understand → misunderstand</a:t>
            </a:r>
            <a:endParaRPr lang="en-US" sz="1250" dirty="0"/>
          </a:p>
        </p:txBody>
      </p:sp>
      <p:sp>
        <p:nvSpPr>
          <p:cNvPr id="22" name="Shape 20"/>
          <p:cNvSpPr/>
          <p:nvPr/>
        </p:nvSpPr>
        <p:spPr>
          <a:xfrm>
            <a:off x="9134856" y="1874520"/>
            <a:ext cx="2606040" cy="3566160"/>
          </a:xfrm>
          <a:prstGeom prst="roundRect">
            <a:avLst>
              <a:gd name="adj" fmla="val 3509"/>
            </a:avLst>
          </a:prstGeom>
          <a:solidFill>
            <a:srgbClr val="E8ECF5"/>
          </a:solidFill>
          <a:ln/>
        </p:spPr>
      </p:sp>
      <p:sp>
        <p:nvSpPr>
          <p:cNvPr id="23" name="Shape 21"/>
          <p:cNvSpPr/>
          <p:nvPr/>
        </p:nvSpPr>
        <p:spPr>
          <a:xfrm>
            <a:off x="10026396" y="2194560"/>
            <a:ext cx="822960" cy="822960"/>
          </a:xfrm>
          <a:prstGeom prst="ellipse">
            <a:avLst/>
          </a:prstGeom>
          <a:solidFill>
            <a:srgbClr val="1B2A4A"/>
          </a:solidFill>
          <a:ln/>
        </p:spPr>
      </p:sp>
      <p:sp>
        <p:nvSpPr>
          <p:cNvPr id="24" name="Text 22"/>
          <p:cNvSpPr/>
          <p:nvPr/>
        </p:nvSpPr>
        <p:spPr>
          <a:xfrm>
            <a:off x="10026396" y="2194560"/>
            <a:ext cx="822960" cy="822960"/>
          </a:xfrm>
          <a:prstGeom prst="rect">
            <a:avLst/>
          </a:prstGeom>
          <a:noFill/>
          <a:ln/>
        </p:spPr>
        <p:txBody>
          <a:bodyPr wrap="square" lIns="0" tIns="0" rIns="0" bIns="0" rtlCol="0" anchor="ctr"/>
          <a:lstStyle/>
          <a:p>
            <a:pPr marL="0" indent="0" algn="ctr">
              <a:buNone/>
            </a:pPr>
            <a:r>
              <a:rPr lang="en-US" sz="1500" b="1" dirty="0">
                <a:solidFill>
                  <a:srgbClr val="E4C874"/>
                </a:solidFill>
                <a:latin typeface="Cambria" pitchFamily="34" charset="0"/>
                <a:ea typeface="Cambria" pitchFamily="34" charset="-122"/>
                <a:cs typeface="Cambria" pitchFamily="34" charset="-120"/>
              </a:rPr>
              <a:t>pre-</a:t>
            </a:r>
            <a:endParaRPr lang="en-US" sz="1500" dirty="0"/>
          </a:p>
        </p:txBody>
      </p:sp>
      <p:sp>
        <p:nvSpPr>
          <p:cNvPr id="25" name="Text 23"/>
          <p:cNvSpPr/>
          <p:nvPr/>
        </p:nvSpPr>
        <p:spPr>
          <a:xfrm>
            <a:off x="9317736" y="3291840"/>
            <a:ext cx="2240280" cy="640080"/>
          </a:xfrm>
          <a:prstGeom prst="rect">
            <a:avLst/>
          </a:prstGeom>
          <a:noFill/>
          <a:ln/>
        </p:spPr>
        <p:txBody>
          <a:bodyPr wrap="square" lIns="0" tIns="0" rIns="0" bIns="0" rtlCol="0" anchor="ctr"/>
          <a:lstStyle/>
          <a:p>
            <a:pPr marL="0" indent="0" algn="ctr">
              <a:buNone/>
            </a:pPr>
            <a:r>
              <a:rPr lang="en-US" sz="1300" b="1" dirty="0">
                <a:solidFill>
                  <a:srgbClr val="1B2A4A"/>
                </a:solidFill>
                <a:latin typeface="Calibri" pitchFamily="34" charset="0"/>
                <a:ea typeface="Calibri" pitchFamily="34" charset="-122"/>
                <a:cs typeface="Calibri" pitchFamily="34" charset="-120"/>
              </a:rPr>
              <a:t>before</a:t>
            </a:r>
            <a:endParaRPr lang="en-US" sz="1300" dirty="0"/>
          </a:p>
        </p:txBody>
      </p:sp>
      <p:sp>
        <p:nvSpPr>
          <p:cNvPr id="26" name="Shape 24"/>
          <p:cNvSpPr/>
          <p:nvPr/>
        </p:nvSpPr>
        <p:spPr>
          <a:xfrm>
            <a:off x="9592056" y="4023360"/>
            <a:ext cx="1691640" cy="0"/>
          </a:xfrm>
          <a:prstGeom prst="line">
            <a:avLst/>
          </a:prstGeom>
          <a:noFill/>
          <a:ln w="12700">
            <a:solidFill>
              <a:srgbClr val="C7D0E6"/>
            </a:solidFill>
            <a:prstDash val="solid"/>
          </a:ln>
        </p:spPr>
      </p:sp>
      <p:sp>
        <p:nvSpPr>
          <p:cNvPr id="27" name="Text 25"/>
          <p:cNvSpPr/>
          <p:nvPr/>
        </p:nvSpPr>
        <p:spPr>
          <a:xfrm>
            <a:off x="9317736" y="4206240"/>
            <a:ext cx="2240280" cy="1005840"/>
          </a:xfrm>
          <a:prstGeom prst="rect">
            <a:avLst/>
          </a:prstGeom>
          <a:noFill/>
          <a:ln/>
        </p:spPr>
        <p:txBody>
          <a:bodyPr wrap="square" lIns="0" tIns="0" rIns="0" bIns="0" rtlCol="0" anchor="ctr"/>
          <a:lstStyle/>
          <a:p>
            <a:pPr marL="0" indent="0" algn="ctr">
              <a:lnSpc>
                <a:spcPct val="120000"/>
              </a:lnSpc>
              <a:buNone/>
            </a:pPr>
            <a:r>
              <a:rPr lang="en-US" sz="1250" dirty="0">
                <a:solidFill>
                  <a:srgbClr val="23324F"/>
                </a:solidFill>
                <a:latin typeface="Calibri" pitchFamily="34" charset="0"/>
                <a:ea typeface="Calibri" pitchFamily="34" charset="-122"/>
                <a:cs typeface="Calibri" pitchFamily="34" charset="-120"/>
              </a:rPr>
              <a:t>view → preview</a:t>
            </a:r>
            <a:endParaRPr lang="en-US" sz="1250" dirty="0"/>
          </a:p>
        </p:txBody>
      </p:sp>
      <p:sp>
        <p:nvSpPr>
          <p:cNvPr id="28" name="Text 26"/>
          <p:cNvSpPr/>
          <p:nvPr/>
        </p:nvSpPr>
        <p:spPr>
          <a:xfrm>
            <a:off x="548640" y="5623560"/>
            <a:ext cx="10972800" cy="457200"/>
          </a:xfrm>
          <a:prstGeom prst="rect">
            <a:avLst/>
          </a:prstGeom>
          <a:noFill/>
          <a:ln/>
        </p:spPr>
        <p:txBody>
          <a:bodyPr wrap="square" lIns="0" tIns="0" rIns="0" bIns="0" rtlCol="0" anchor="ctr"/>
          <a:lstStyle/>
          <a:p>
            <a:pPr marL="0" indent="0">
              <a:buNone/>
            </a:pPr>
            <a:r>
              <a:rPr lang="en-US" sz="1250" i="1" dirty="0">
                <a:solidFill>
                  <a:srgbClr val="5B6B8C"/>
                </a:solidFill>
                <a:latin typeface="Calibri" pitchFamily="34" charset="0"/>
                <a:ea typeface="Calibri" pitchFamily="34" charset="-122"/>
                <a:cs typeface="Calibri" pitchFamily="34" charset="-120"/>
              </a:rPr>
              <a:t>Prefixes rarely change a word's part of speech — they refine or reverse its meaning while the root stays grammatically the same.</a:t>
            </a:r>
            <a:endParaRPr lang="en-US" sz="1250" dirty="0"/>
          </a:p>
        </p:txBody>
      </p:sp>
      <p:sp>
        <p:nvSpPr>
          <p:cNvPr id="29" name="Text 27"/>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A6AFC6"/>
                </a:solidFill>
                <a:latin typeface="Calibri" pitchFamily="34" charset="0"/>
                <a:ea typeface="Calibri" pitchFamily="34" charset="-122"/>
                <a:cs typeface="Calibri" pitchFamily="34" charset="-120"/>
              </a:rPr>
              <a:t>DERIVATIONAL MORPHOLOGY</a:t>
            </a:r>
            <a:endParaRPr lang="en-US" sz="900" dirty="0"/>
          </a:p>
        </p:txBody>
      </p:sp>
      <p:sp>
        <p:nvSpPr>
          <p:cNvPr id="30" name="Text 28"/>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900" dirty="0">
                <a:solidFill>
                  <a:srgbClr val="A6AFC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Suffixes: Shifting Word Class</a:t>
            </a:r>
            <a:endParaRPr lang="en-US" sz="3000" dirty="0"/>
          </a:p>
        </p:txBody>
      </p:sp>
      <p:sp>
        <p:nvSpPr>
          <p:cNvPr id="3" name="Text 1"/>
          <p:cNvSpPr/>
          <p:nvPr/>
        </p:nvSpPr>
        <p:spPr>
          <a:xfrm>
            <a:off x="548640" y="1051560"/>
            <a:ext cx="10515600" cy="365760"/>
          </a:xfrm>
          <a:prstGeom prst="rect">
            <a:avLst/>
          </a:prstGeom>
          <a:noFill/>
          <a:ln/>
        </p:spPr>
        <p:txBody>
          <a:bodyPr wrap="square" lIns="0" tIns="0" rIns="0" bIns="0" rtlCol="0" anchor="ctr"/>
          <a:lstStyle/>
          <a:p>
            <a:pPr marL="0" indent="0">
              <a:buNone/>
            </a:pPr>
            <a:r>
              <a:rPr lang="en-US" sz="1400" i="1" dirty="0">
                <a:solidFill>
                  <a:srgbClr val="5B6B8C"/>
                </a:solidFill>
                <a:latin typeface="Calibri" pitchFamily="34" charset="0"/>
                <a:ea typeface="Calibri" pitchFamily="34" charset="-122"/>
                <a:cs typeface="Calibri" pitchFamily="34" charset="-120"/>
              </a:rPr>
              <a:t>Attached after the root — suffixes often convert a word into a new part of speech</a:t>
            </a:r>
            <a:endParaRPr lang="en-US" sz="1400" dirty="0"/>
          </a:p>
        </p:txBody>
      </p:sp>
      <p:sp>
        <p:nvSpPr>
          <p:cNvPr id="4" name="Shape 2"/>
          <p:cNvSpPr/>
          <p:nvPr/>
        </p:nvSpPr>
        <p:spPr>
          <a:xfrm>
            <a:off x="548640" y="1783080"/>
            <a:ext cx="11064240" cy="749808"/>
          </a:xfrm>
          <a:prstGeom prst="roundRect">
            <a:avLst>
              <a:gd name="adj" fmla="val 9756"/>
            </a:avLst>
          </a:prstGeom>
          <a:solidFill>
            <a:srgbClr val="E8ECF5"/>
          </a:solidFill>
          <a:ln/>
        </p:spPr>
      </p:sp>
      <p:sp>
        <p:nvSpPr>
          <p:cNvPr id="5" name="Shape 3"/>
          <p:cNvSpPr/>
          <p:nvPr/>
        </p:nvSpPr>
        <p:spPr>
          <a:xfrm>
            <a:off x="777240" y="1883664"/>
            <a:ext cx="548640" cy="548640"/>
          </a:xfrm>
          <a:prstGeom prst="ellipse">
            <a:avLst/>
          </a:prstGeom>
          <a:solidFill>
            <a:srgbClr val="1B2A4A"/>
          </a:solidFill>
          <a:ln/>
        </p:spPr>
      </p:sp>
      <p:sp>
        <p:nvSpPr>
          <p:cNvPr id="6" name="Text 4"/>
          <p:cNvSpPr/>
          <p:nvPr/>
        </p:nvSpPr>
        <p:spPr>
          <a:xfrm>
            <a:off x="777240" y="1883664"/>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N</a:t>
            </a:r>
            <a:endParaRPr lang="en-US" sz="1600" dirty="0"/>
          </a:p>
        </p:txBody>
      </p:sp>
      <p:sp>
        <p:nvSpPr>
          <p:cNvPr id="7" name="Text 5"/>
          <p:cNvSpPr/>
          <p:nvPr/>
        </p:nvSpPr>
        <p:spPr>
          <a:xfrm>
            <a:off x="1508760" y="1856232"/>
            <a:ext cx="2286000" cy="548640"/>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Noun</a:t>
            </a:r>
            <a:endParaRPr lang="en-US" sz="1500" dirty="0"/>
          </a:p>
        </p:txBody>
      </p:sp>
      <p:sp>
        <p:nvSpPr>
          <p:cNvPr id="8" name="Text 6"/>
          <p:cNvSpPr/>
          <p:nvPr/>
        </p:nvSpPr>
        <p:spPr>
          <a:xfrm>
            <a:off x="3931920" y="1856232"/>
            <a:ext cx="3291840" cy="548640"/>
          </a:xfrm>
          <a:prstGeom prst="rect">
            <a:avLst/>
          </a:prstGeom>
          <a:noFill/>
          <a:ln/>
        </p:spPr>
        <p:txBody>
          <a:bodyPr wrap="square" lIns="0" tIns="0" rIns="0" bIns="0" rtlCol="0" anchor="ctr"/>
          <a:lstStyle/>
          <a:p>
            <a:pPr marL="0" indent="0">
              <a:buNone/>
            </a:pPr>
            <a:r>
              <a:rPr lang="en-US" sz="1350" dirty="0">
                <a:solidFill>
                  <a:srgbClr val="23324F"/>
                </a:solidFill>
                <a:latin typeface="Calibri" pitchFamily="34" charset="0"/>
                <a:ea typeface="Calibri" pitchFamily="34" charset="-122"/>
                <a:cs typeface="Calibri" pitchFamily="34" charset="-120"/>
              </a:rPr>
              <a:t>-tion, -ness, -ment</a:t>
            </a:r>
            <a:endParaRPr lang="en-US" sz="1350" dirty="0"/>
          </a:p>
        </p:txBody>
      </p:sp>
      <p:sp>
        <p:nvSpPr>
          <p:cNvPr id="9" name="Text 7"/>
          <p:cNvSpPr/>
          <p:nvPr/>
        </p:nvSpPr>
        <p:spPr>
          <a:xfrm>
            <a:off x="7498080" y="1856232"/>
            <a:ext cx="3931920" cy="548640"/>
          </a:xfrm>
          <a:prstGeom prst="rect">
            <a:avLst/>
          </a:prstGeom>
          <a:noFill/>
          <a:ln/>
        </p:spPr>
        <p:txBody>
          <a:bodyPr wrap="square" lIns="0" tIns="0" rIns="0" bIns="0" rtlCol="0" anchor="ctr"/>
          <a:lstStyle/>
          <a:p>
            <a:pPr marL="0" indent="0">
              <a:buNone/>
            </a:pPr>
            <a:r>
              <a:rPr lang="en-US" sz="1350" b="1" dirty="0">
                <a:solidFill>
                  <a:srgbClr val="C9A227"/>
                </a:solidFill>
                <a:latin typeface="Calibri" pitchFamily="34" charset="0"/>
                <a:ea typeface="Calibri" pitchFamily="34" charset="-122"/>
                <a:cs typeface="Calibri" pitchFamily="34" charset="-120"/>
              </a:rPr>
              <a:t>act → action</a:t>
            </a:r>
            <a:endParaRPr lang="en-US" sz="1350" dirty="0"/>
          </a:p>
        </p:txBody>
      </p:sp>
      <p:sp>
        <p:nvSpPr>
          <p:cNvPr id="10" name="Shape 8"/>
          <p:cNvSpPr/>
          <p:nvPr/>
        </p:nvSpPr>
        <p:spPr>
          <a:xfrm>
            <a:off x="548640" y="2679192"/>
            <a:ext cx="11064240" cy="749808"/>
          </a:xfrm>
          <a:prstGeom prst="roundRect">
            <a:avLst>
              <a:gd name="adj" fmla="val 9756"/>
            </a:avLst>
          </a:prstGeom>
          <a:solidFill>
            <a:srgbClr val="E8ECF5"/>
          </a:solidFill>
          <a:ln/>
        </p:spPr>
      </p:sp>
      <p:sp>
        <p:nvSpPr>
          <p:cNvPr id="11" name="Shape 9"/>
          <p:cNvSpPr/>
          <p:nvPr/>
        </p:nvSpPr>
        <p:spPr>
          <a:xfrm>
            <a:off x="777240" y="2779776"/>
            <a:ext cx="548640" cy="548640"/>
          </a:xfrm>
          <a:prstGeom prst="ellipse">
            <a:avLst/>
          </a:prstGeom>
          <a:solidFill>
            <a:srgbClr val="2C4270"/>
          </a:solidFill>
          <a:ln/>
        </p:spPr>
      </p:sp>
      <p:sp>
        <p:nvSpPr>
          <p:cNvPr id="12" name="Text 10"/>
          <p:cNvSpPr/>
          <p:nvPr/>
        </p:nvSpPr>
        <p:spPr>
          <a:xfrm>
            <a:off x="777240" y="2779776"/>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V</a:t>
            </a:r>
            <a:endParaRPr lang="en-US" sz="1600" dirty="0"/>
          </a:p>
        </p:txBody>
      </p:sp>
      <p:sp>
        <p:nvSpPr>
          <p:cNvPr id="13" name="Text 11"/>
          <p:cNvSpPr/>
          <p:nvPr/>
        </p:nvSpPr>
        <p:spPr>
          <a:xfrm>
            <a:off x="1508760" y="2752344"/>
            <a:ext cx="2286000" cy="548640"/>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Verb</a:t>
            </a:r>
            <a:endParaRPr lang="en-US" sz="1500" dirty="0"/>
          </a:p>
        </p:txBody>
      </p:sp>
      <p:sp>
        <p:nvSpPr>
          <p:cNvPr id="14" name="Text 12"/>
          <p:cNvSpPr/>
          <p:nvPr/>
        </p:nvSpPr>
        <p:spPr>
          <a:xfrm>
            <a:off x="3931920" y="2752344"/>
            <a:ext cx="3291840" cy="548640"/>
          </a:xfrm>
          <a:prstGeom prst="rect">
            <a:avLst/>
          </a:prstGeom>
          <a:noFill/>
          <a:ln/>
        </p:spPr>
        <p:txBody>
          <a:bodyPr wrap="square" lIns="0" tIns="0" rIns="0" bIns="0" rtlCol="0" anchor="ctr"/>
          <a:lstStyle/>
          <a:p>
            <a:pPr marL="0" indent="0">
              <a:buNone/>
            </a:pPr>
            <a:r>
              <a:rPr lang="en-US" sz="1350" dirty="0">
                <a:solidFill>
                  <a:srgbClr val="23324F"/>
                </a:solidFill>
                <a:latin typeface="Calibri" pitchFamily="34" charset="0"/>
                <a:ea typeface="Calibri" pitchFamily="34" charset="-122"/>
                <a:cs typeface="Calibri" pitchFamily="34" charset="-120"/>
              </a:rPr>
              <a:t>-ize, -ify, -en</a:t>
            </a:r>
            <a:endParaRPr lang="en-US" sz="1350" dirty="0"/>
          </a:p>
        </p:txBody>
      </p:sp>
      <p:sp>
        <p:nvSpPr>
          <p:cNvPr id="15" name="Text 13"/>
          <p:cNvSpPr/>
          <p:nvPr/>
        </p:nvSpPr>
        <p:spPr>
          <a:xfrm>
            <a:off x="7498080" y="2752344"/>
            <a:ext cx="3931920" cy="548640"/>
          </a:xfrm>
          <a:prstGeom prst="rect">
            <a:avLst/>
          </a:prstGeom>
          <a:noFill/>
          <a:ln/>
        </p:spPr>
        <p:txBody>
          <a:bodyPr wrap="square" lIns="0" tIns="0" rIns="0" bIns="0" rtlCol="0" anchor="ctr"/>
          <a:lstStyle/>
          <a:p>
            <a:pPr marL="0" indent="0">
              <a:buNone/>
            </a:pPr>
            <a:r>
              <a:rPr lang="en-US" sz="1350" b="1" dirty="0">
                <a:solidFill>
                  <a:srgbClr val="C9A227"/>
                </a:solidFill>
                <a:latin typeface="Calibri" pitchFamily="34" charset="0"/>
                <a:ea typeface="Calibri" pitchFamily="34" charset="-122"/>
                <a:cs typeface="Calibri" pitchFamily="34" charset="-120"/>
              </a:rPr>
              <a:t>active → activate</a:t>
            </a:r>
            <a:endParaRPr lang="en-US" sz="1350" dirty="0"/>
          </a:p>
        </p:txBody>
      </p:sp>
      <p:sp>
        <p:nvSpPr>
          <p:cNvPr id="16" name="Shape 14"/>
          <p:cNvSpPr/>
          <p:nvPr/>
        </p:nvSpPr>
        <p:spPr>
          <a:xfrm>
            <a:off x="548640" y="3575304"/>
            <a:ext cx="11064240" cy="749808"/>
          </a:xfrm>
          <a:prstGeom prst="roundRect">
            <a:avLst>
              <a:gd name="adj" fmla="val 9756"/>
            </a:avLst>
          </a:prstGeom>
          <a:solidFill>
            <a:srgbClr val="E8ECF5"/>
          </a:solidFill>
          <a:ln/>
        </p:spPr>
      </p:sp>
      <p:sp>
        <p:nvSpPr>
          <p:cNvPr id="17" name="Shape 15"/>
          <p:cNvSpPr/>
          <p:nvPr/>
        </p:nvSpPr>
        <p:spPr>
          <a:xfrm>
            <a:off x="777240" y="3675888"/>
            <a:ext cx="548640" cy="548640"/>
          </a:xfrm>
          <a:prstGeom prst="ellipse">
            <a:avLst/>
          </a:prstGeom>
          <a:solidFill>
            <a:srgbClr val="3A5488"/>
          </a:solidFill>
          <a:ln/>
        </p:spPr>
      </p:sp>
      <p:sp>
        <p:nvSpPr>
          <p:cNvPr id="18" name="Text 16"/>
          <p:cNvSpPr/>
          <p:nvPr/>
        </p:nvSpPr>
        <p:spPr>
          <a:xfrm>
            <a:off x="777240" y="3675888"/>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A</a:t>
            </a:r>
            <a:endParaRPr lang="en-US" sz="1600" dirty="0"/>
          </a:p>
        </p:txBody>
      </p:sp>
      <p:sp>
        <p:nvSpPr>
          <p:cNvPr id="19" name="Text 17"/>
          <p:cNvSpPr/>
          <p:nvPr/>
        </p:nvSpPr>
        <p:spPr>
          <a:xfrm>
            <a:off x="1508760" y="3648456"/>
            <a:ext cx="2286000" cy="548640"/>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Adjective</a:t>
            </a:r>
            <a:endParaRPr lang="en-US" sz="1500" dirty="0"/>
          </a:p>
        </p:txBody>
      </p:sp>
      <p:sp>
        <p:nvSpPr>
          <p:cNvPr id="20" name="Text 18"/>
          <p:cNvSpPr/>
          <p:nvPr/>
        </p:nvSpPr>
        <p:spPr>
          <a:xfrm>
            <a:off x="3931920" y="3648456"/>
            <a:ext cx="3291840" cy="548640"/>
          </a:xfrm>
          <a:prstGeom prst="rect">
            <a:avLst/>
          </a:prstGeom>
          <a:noFill/>
          <a:ln/>
        </p:spPr>
        <p:txBody>
          <a:bodyPr wrap="square" lIns="0" tIns="0" rIns="0" bIns="0" rtlCol="0" anchor="ctr"/>
          <a:lstStyle/>
          <a:p>
            <a:pPr marL="0" indent="0">
              <a:buNone/>
            </a:pPr>
            <a:r>
              <a:rPr lang="en-US" sz="1350" dirty="0">
                <a:solidFill>
                  <a:srgbClr val="23324F"/>
                </a:solidFill>
                <a:latin typeface="Calibri" pitchFamily="34" charset="0"/>
                <a:ea typeface="Calibri" pitchFamily="34" charset="-122"/>
                <a:cs typeface="Calibri" pitchFamily="34" charset="-120"/>
              </a:rPr>
              <a:t>-ful, -less, -able</a:t>
            </a:r>
            <a:endParaRPr lang="en-US" sz="1350" dirty="0"/>
          </a:p>
        </p:txBody>
      </p:sp>
      <p:sp>
        <p:nvSpPr>
          <p:cNvPr id="21" name="Text 19"/>
          <p:cNvSpPr/>
          <p:nvPr/>
        </p:nvSpPr>
        <p:spPr>
          <a:xfrm>
            <a:off x="7498080" y="3648456"/>
            <a:ext cx="3931920" cy="548640"/>
          </a:xfrm>
          <a:prstGeom prst="rect">
            <a:avLst/>
          </a:prstGeom>
          <a:noFill/>
          <a:ln/>
        </p:spPr>
        <p:txBody>
          <a:bodyPr wrap="square" lIns="0" tIns="0" rIns="0" bIns="0" rtlCol="0" anchor="ctr"/>
          <a:lstStyle/>
          <a:p>
            <a:pPr marL="0" indent="0">
              <a:buNone/>
            </a:pPr>
            <a:r>
              <a:rPr lang="en-US" sz="1350" b="1" dirty="0">
                <a:solidFill>
                  <a:srgbClr val="C9A227"/>
                </a:solidFill>
                <a:latin typeface="Calibri" pitchFamily="34" charset="0"/>
                <a:ea typeface="Calibri" pitchFamily="34" charset="-122"/>
                <a:cs typeface="Calibri" pitchFamily="34" charset="-120"/>
              </a:rPr>
              <a:t>care → careful</a:t>
            </a:r>
            <a:endParaRPr lang="en-US" sz="1350" dirty="0"/>
          </a:p>
        </p:txBody>
      </p:sp>
      <p:sp>
        <p:nvSpPr>
          <p:cNvPr id="22" name="Shape 20"/>
          <p:cNvSpPr/>
          <p:nvPr/>
        </p:nvSpPr>
        <p:spPr>
          <a:xfrm>
            <a:off x="548640" y="4471416"/>
            <a:ext cx="11064240" cy="749808"/>
          </a:xfrm>
          <a:prstGeom prst="roundRect">
            <a:avLst>
              <a:gd name="adj" fmla="val 9756"/>
            </a:avLst>
          </a:prstGeom>
          <a:solidFill>
            <a:srgbClr val="E8ECF5"/>
          </a:solidFill>
          <a:ln/>
        </p:spPr>
      </p:sp>
      <p:sp>
        <p:nvSpPr>
          <p:cNvPr id="23" name="Shape 21"/>
          <p:cNvSpPr/>
          <p:nvPr/>
        </p:nvSpPr>
        <p:spPr>
          <a:xfrm>
            <a:off x="777240" y="4572000"/>
            <a:ext cx="548640" cy="548640"/>
          </a:xfrm>
          <a:prstGeom prst="ellipse">
            <a:avLst/>
          </a:prstGeom>
          <a:solidFill>
            <a:srgbClr val="4863A0"/>
          </a:solidFill>
          <a:ln/>
        </p:spPr>
      </p:sp>
      <p:sp>
        <p:nvSpPr>
          <p:cNvPr id="24" name="Text 22"/>
          <p:cNvSpPr/>
          <p:nvPr/>
        </p:nvSpPr>
        <p:spPr>
          <a:xfrm>
            <a:off x="777240" y="457200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A</a:t>
            </a:r>
            <a:endParaRPr lang="en-US" sz="1600" dirty="0"/>
          </a:p>
        </p:txBody>
      </p:sp>
      <p:sp>
        <p:nvSpPr>
          <p:cNvPr id="25" name="Text 23"/>
          <p:cNvSpPr/>
          <p:nvPr/>
        </p:nvSpPr>
        <p:spPr>
          <a:xfrm>
            <a:off x="1508760" y="4544568"/>
            <a:ext cx="2286000" cy="548640"/>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Adverb</a:t>
            </a:r>
            <a:endParaRPr lang="en-US" sz="1500" dirty="0"/>
          </a:p>
        </p:txBody>
      </p:sp>
      <p:sp>
        <p:nvSpPr>
          <p:cNvPr id="26" name="Text 24"/>
          <p:cNvSpPr/>
          <p:nvPr/>
        </p:nvSpPr>
        <p:spPr>
          <a:xfrm>
            <a:off x="3931920" y="4544568"/>
            <a:ext cx="3291840" cy="548640"/>
          </a:xfrm>
          <a:prstGeom prst="rect">
            <a:avLst/>
          </a:prstGeom>
          <a:noFill/>
          <a:ln/>
        </p:spPr>
        <p:txBody>
          <a:bodyPr wrap="square" lIns="0" tIns="0" rIns="0" bIns="0" rtlCol="0" anchor="ctr"/>
          <a:lstStyle/>
          <a:p>
            <a:pPr marL="0" indent="0">
              <a:buNone/>
            </a:pPr>
            <a:r>
              <a:rPr lang="en-US" sz="1350" dirty="0">
                <a:solidFill>
                  <a:srgbClr val="23324F"/>
                </a:solidFill>
                <a:latin typeface="Calibri" pitchFamily="34" charset="0"/>
                <a:ea typeface="Calibri" pitchFamily="34" charset="-122"/>
                <a:cs typeface="Calibri" pitchFamily="34" charset="-120"/>
              </a:rPr>
              <a:t>-ly</a:t>
            </a:r>
            <a:endParaRPr lang="en-US" sz="1350" dirty="0"/>
          </a:p>
        </p:txBody>
      </p:sp>
      <p:sp>
        <p:nvSpPr>
          <p:cNvPr id="27" name="Text 25"/>
          <p:cNvSpPr/>
          <p:nvPr/>
        </p:nvSpPr>
        <p:spPr>
          <a:xfrm>
            <a:off x="7498080" y="4544568"/>
            <a:ext cx="3931920" cy="548640"/>
          </a:xfrm>
          <a:prstGeom prst="rect">
            <a:avLst/>
          </a:prstGeom>
          <a:noFill/>
          <a:ln/>
        </p:spPr>
        <p:txBody>
          <a:bodyPr wrap="square" lIns="0" tIns="0" rIns="0" bIns="0" rtlCol="0" anchor="ctr"/>
          <a:lstStyle/>
          <a:p>
            <a:pPr marL="0" indent="0">
              <a:buNone/>
            </a:pPr>
            <a:r>
              <a:rPr lang="en-US" sz="1350" b="1" dirty="0">
                <a:solidFill>
                  <a:srgbClr val="C9A227"/>
                </a:solidFill>
                <a:latin typeface="Calibri" pitchFamily="34" charset="0"/>
                <a:ea typeface="Calibri" pitchFamily="34" charset="-122"/>
                <a:cs typeface="Calibri" pitchFamily="34" charset="-120"/>
              </a:rPr>
              <a:t>active → actively</a:t>
            </a:r>
            <a:endParaRPr lang="en-US" sz="1350" dirty="0"/>
          </a:p>
        </p:txBody>
      </p:sp>
      <p:sp>
        <p:nvSpPr>
          <p:cNvPr id="28" name="Text 26"/>
          <p:cNvSpPr/>
          <p:nvPr/>
        </p:nvSpPr>
        <p:spPr>
          <a:xfrm>
            <a:off x="548640" y="5477256"/>
            <a:ext cx="11064240" cy="457200"/>
          </a:xfrm>
          <a:prstGeom prst="rect">
            <a:avLst/>
          </a:prstGeom>
          <a:noFill/>
          <a:ln/>
        </p:spPr>
        <p:txBody>
          <a:bodyPr wrap="square" lIns="0" tIns="0" rIns="0" bIns="0" rtlCol="0" anchor="ctr"/>
          <a:lstStyle/>
          <a:p>
            <a:pPr marL="0" indent="0">
              <a:buNone/>
            </a:pPr>
            <a:r>
              <a:rPr lang="en-US" sz="1250" i="1" dirty="0">
                <a:solidFill>
                  <a:srgbClr val="5B6B8C"/>
                </a:solidFill>
                <a:latin typeface="Calibri" pitchFamily="34" charset="0"/>
                <a:ea typeface="Calibri" pitchFamily="34" charset="-122"/>
                <a:cs typeface="Calibri" pitchFamily="34" charset="-120"/>
              </a:rPr>
              <a:t>One root, many classes: act → active (adj) → activate (verb) → activation (noun) → actively (adverb).</a:t>
            </a:r>
            <a:endParaRPr lang="en-US" sz="1250" dirty="0"/>
          </a:p>
        </p:txBody>
      </p:sp>
      <p:sp>
        <p:nvSpPr>
          <p:cNvPr id="29" name="Text 27"/>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A6AFC6"/>
                </a:solidFill>
                <a:latin typeface="Calibri" pitchFamily="34" charset="0"/>
                <a:ea typeface="Calibri" pitchFamily="34" charset="-122"/>
                <a:cs typeface="Calibri" pitchFamily="34" charset="-120"/>
              </a:rPr>
              <a:t>DERIVATIONAL MORPHOLOGY</a:t>
            </a:r>
            <a:endParaRPr lang="en-US" sz="900" dirty="0"/>
          </a:p>
        </p:txBody>
      </p:sp>
      <p:sp>
        <p:nvSpPr>
          <p:cNvPr id="30" name="Text 28"/>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900" dirty="0">
                <a:solidFill>
                  <a:srgbClr val="A6AFC6"/>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Roots: The Core Building Blocks</a:t>
            </a:r>
            <a:endParaRPr lang="en-US" sz="3000" dirty="0"/>
          </a:p>
        </p:txBody>
      </p:sp>
      <p:sp>
        <p:nvSpPr>
          <p:cNvPr id="3" name="Text 1"/>
          <p:cNvSpPr/>
          <p:nvPr/>
        </p:nvSpPr>
        <p:spPr>
          <a:xfrm>
            <a:off x="548640" y="1051560"/>
            <a:ext cx="10515600" cy="365760"/>
          </a:xfrm>
          <a:prstGeom prst="rect">
            <a:avLst/>
          </a:prstGeom>
          <a:noFill/>
          <a:ln/>
        </p:spPr>
        <p:txBody>
          <a:bodyPr wrap="square" lIns="0" tIns="0" rIns="0" bIns="0" rtlCol="0" anchor="ctr"/>
          <a:lstStyle/>
          <a:p>
            <a:pPr marL="0" indent="0">
              <a:buNone/>
            </a:pPr>
            <a:r>
              <a:rPr lang="en-US" sz="1400" i="1" dirty="0">
                <a:solidFill>
                  <a:srgbClr val="5B6B8C"/>
                </a:solidFill>
                <a:latin typeface="Calibri" pitchFamily="34" charset="0"/>
                <a:ea typeface="Calibri" pitchFamily="34" charset="-122"/>
                <a:cs typeface="Calibri" pitchFamily="34" charset="-120"/>
              </a:rPr>
              <a:t>The root carries the core meaning; prefixes and suffixes attach around it</a:t>
            </a:r>
            <a:endParaRPr lang="en-US" sz="1400" dirty="0"/>
          </a:p>
        </p:txBody>
      </p:sp>
      <p:sp>
        <p:nvSpPr>
          <p:cNvPr id="4" name="Shape 2"/>
          <p:cNvSpPr/>
          <p:nvPr/>
        </p:nvSpPr>
        <p:spPr>
          <a:xfrm>
            <a:off x="548640" y="1783080"/>
            <a:ext cx="11064240" cy="749808"/>
          </a:xfrm>
          <a:prstGeom prst="roundRect">
            <a:avLst>
              <a:gd name="adj" fmla="val 9756"/>
            </a:avLst>
          </a:prstGeom>
          <a:solidFill>
            <a:srgbClr val="E8ECF5"/>
          </a:solidFill>
          <a:ln/>
        </p:spPr>
      </p:sp>
      <p:sp>
        <p:nvSpPr>
          <p:cNvPr id="5" name="Shape 3"/>
          <p:cNvSpPr/>
          <p:nvPr/>
        </p:nvSpPr>
        <p:spPr>
          <a:xfrm>
            <a:off x="777240" y="1883664"/>
            <a:ext cx="548640" cy="548640"/>
          </a:xfrm>
          <a:prstGeom prst="ellipse">
            <a:avLst/>
          </a:prstGeom>
          <a:solidFill>
            <a:srgbClr val="1B2A4A"/>
          </a:solidFill>
          <a:ln/>
        </p:spPr>
      </p:sp>
      <p:sp>
        <p:nvSpPr>
          <p:cNvPr id="6" name="Text 4"/>
          <p:cNvSpPr/>
          <p:nvPr/>
        </p:nvSpPr>
        <p:spPr>
          <a:xfrm>
            <a:off x="777240" y="1883664"/>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F</a:t>
            </a:r>
            <a:endParaRPr lang="en-US" sz="1600" dirty="0"/>
          </a:p>
        </p:txBody>
      </p:sp>
      <p:sp>
        <p:nvSpPr>
          <p:cNvPr id="7" name="Text 5"/>
          <p:cNvSpPr/>
          <p:nvPr/>
        </p:nvSpPr>
        <p:spPr>
          <a:xfrm>
            <a:off x="1508760" y="1856232"/>
            <a:ext cx="2286000" cy="548640"/>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Free Root</a:t>
            </a:r>
            <a:endParaRPr lang="en-US" sz="1500" dirty="0"/>
          </a:p>
        </p:txBody>
      </p:sp>
      <p:sp>
        <p:nvSpPr>
          <p:cNvPr id="8" name="Text 6"/>
          <p:cNvSpPr/>
          <p:nvPr/>
        </p:nvSpPr>
        <p:spPr>
          <a:xfrm>
            <a:off x="3931920" y="1856232"/>
            <a:ext cx="3291840" cy="548640"/>
          </a:xfrm>
          <a:prstGeom prst="rect">
            <a:avLst/>
          </a:prstGeom>
          <a:noFill/>
          <a:ln/>
        </p:spPr>
        <p:txBody>
          <a:bodyPr wrap="square" lIns="0" tIns="0" rIns="0" bIns="0" rtlCol="0" anchor="ctr"/>
          <a:lstStyle/>
          <a:p>
            <a:pPr marL="0" indent="0">
              <a:buNone/>
            </a:pPr>
            <a:r>
              <a:rPr lang="en-US" sz="1350" dirty="0">
                <a:solidFill>
                  <a:srgbClr val="23324F"/>
                </a:solidFill>
                <a:latin typeface="Calibri" pitchFamily="34" charset="0"/>
                <a:ea typeface="Calibri" pitchFamily="34" charset="-122"/>
                <a:cs typeface="Calibri" pitchFamily="34" charset="-120"/>
              </a:rPr>
              <a:t>stands alone as a word</a:t>
            </a:r>
            <a:endParaRPr lang="en-US" sz="1350" dirty="0"/>
          </a:p>
        </p:txBody>
      </p:sp>
      <p:sp>
        <p:nvSpPr>
          <p:cNvPr id="9" name="Text 7"/>
          <p:cNvSpPr/>
          <p:nvPr/>
        </p:nvSpPr>
        <p:spPr>
          <a:xfrm>
            <a:off x="7498080" y="1856232"/>
            <a:ext cx="3931920" cy="548640"/>
          </a:xfrm>
          <a:prstGeom prst="rect">
            <a:avLst/>
          </a:prstGeom>
          <a:noFill/>
          <a:ln/>
        </p:spPr>
        <p:txBody>
          <a:bodyPr wrap="square" lIns="0" tIns="0" rIns="0" bIns="0" rtlCol="0" anchor="ctr"/>
          <a:lstStyle/>
          <a:p>
            <a:pPr marL="0" indent="0">
              <a:buNone/>
            </a:pPr>
            <a:r>
              <a:rPr lang="en-US" sz="1350" b="1" dirty="0">
                <a:solidFill>
                  <a:srgbClr val="C9A227"/>
                </a:solidFill>
                <a:latin typeface="Calibri" pitchFamily="34" charset="0"/>
                <a:ea typeface="Calibri" pitchFamily="34" charset="-122"/>
                <a:cs typeface="Calibri" pitchFamily="34" charset="-120"/>
              </a:rPr>
              <a:t>care, kind, form</a:t>
            </a:r>
            <a:endParaRPr lang="en-US" sz="1350" dirty="0"/>
          </a:p>
        </p:txBody>
      </p:sp>
      <p:sp>
        <p:nvSpPr>
          <p:cNvPr id="10" name="Shape 8"/>
          <p:cNvSpPr/>
          <p:nvPr/>
        </p:nvSpPr>
        <p:spPr>
          <a:xfrm>
            <a:off x="548640" y="2679192"/>
            <a:ext cx="11064240" cy="749808"/>
          </a:xfrm>
          <a:prstGeom prst="roundRect">
            <a:avLst>
              <a:gd name="adj" fmla="val 9756"/>
            </a:avLst>
          </a:prstGeom>
          <a:solidFill>
            <a:srgbClr val="E8ECF5"/>
          </a:solidFill>
          <a:ln/>
        </p:spPr>
      </p:sp>
      <p:sp>
        <p:nvSpPr>
          <p:cNvPr id="11" name="Shape 9"/>
          <p:cNvSpPr/>
          <p:nvPr/>
        </p:nvSpPr>
        <p:spPr>
          <a:xfrm>
            <a:off x="777240" y="2779776"/>
            <a:ext cx="548640" cy="548640"/>
          </a:xfrm>
          <a:prstGeom prst="ellipse">
            <a:avLst/>
          </a:prstGeom>
          <a:solidFill>
            <a:srgbClr val="2C4270"/>
          </a:solidFill>
          <a:ln/>
        </p:spPr>
      </p:sp>
      <p:sp>
        <p:nvSpPr>
          <p:cNvPr id="12" name="Text 10"/>
          <p:cNvSpPr/>
          <p:nvPr/>
        </p:nvSpPr>
        <p:spPr>
          <a:xfrm>
            <a:off x="777240" y="2779776"/>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1508760" y="2752344"/>
            <a:ext cx="2286000" cy="548640"/>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Bound Root</a:t>
            </a:r>
            <a:endParaRPr lang="en-US" sz="1500" dirty="0"/>
          </a:p>
        </p:txBody>
      </p:sp>
      <p:sp>
        <p:nvSpPr>
          <p:cNvPr id="14" name="Text 12"/>
          <p:cNvSpPr/>
          <p:nvPr/>
        </p:nvSpPr>
        <p:spPr>
          <a:xfrm>
            <a:off x="3931920" y="2752344"/>
            <a:ext cx="3291840" cy="548640"/>
          </a:xfrm>
          <a:prstGeom prst="rect">
            <a:avLst/>
          </a:prstGeom>
          <a:noFill/>
          <a:ln/>
        </p:spPr>
        <p:txBody>
          <a:bodyPr wrap="square" lIns="0" tIns="0" rIns="0" bIns="0" rtlCol="0" anchor="ctr"/>
          <a:lstStyle/>
          <a:p>
            <a:pPr marL="0" indent="0">
              <a:buNone/>
            </a:pPr>
            <a:r>
              <a:rPr lang="en-US" sz="1350" dirty="0">
                <a:solidFill>
                  <a:srgbClr val="23324F"/>
                </a:solidFill>
                <a:latin typeface="Calibri" pitchFamily="34" charset="0"/>
                <a:ea typeface="Calibri" pitchFamily="34" charset="-122"/>
                <a:cs typeface="Calibri" pitchFamily="34" charset="-120"/>
              </a:rPr>
              <a:t>cannot stand alone</a:t>
            </a:r>
            <a:endParaRPr lang="en-US" sz="1350" dirty="0"/>
          </a:p>
        </p:txBody>
      </p:sp>
      <p:sp>
        <p:nvSpPr>
          <p:cNvPr id="15" name="Text 13"/>
          <p:cNvSpPr/>
          <p:nvPr/>
        </p:nvSpPr>
        <p:spPr>
          <a:xfrm>
            <a:off x="7498080" y="2752344"/>
            <a:ext cx="3931920" cy="548640"/>
          </a:xfrm>
          <a:prstGeom prst="rect">
            <a:avLst/>
          </a:prstGeom>
          <a:noFill/>
          <a:ln/>
        </p:spPr>
        <p:txBody>
          <a:bodyPr wrap="square" lIns="0" tIns="0" rIns="0" bIns="0" rtlCol="0" anchor="ctr"/>
          <a:lstStyle/>
          <a:p>
            <a:pPr marL="0" indent="0">
              <a:buNone/>
            </a:pPr>
            <a:r>
              <a:rPr lang="en-US" sz="1350" b="1" dirty="0">
                <a:solidFill>
                  <a:srgbClr val="C9A227"/>
                </a:solidFill>
                <a:latin typeface="Calibri" pitchFamily="34" charset="0"/>
                <a:ea typeface="Calibri" pitchFamily="34" charset="-122"/>
                <a:cs typeface="Calibri" pitchFamily="34" charset="-120"/>
              </a:rPr>
              <a:t>-duce (produce, reduce)</a:t>
            </a:r>
            <a:endParaRPr lang="en-US" sz="1350" dirty="0"/>
          </a:p>
        </p:txBody>
      </p:sp>
      <p:sp>
        <p:nvSpPr>
          <p:cNvPr id="16" name="Shape 14"/>
          <p:cNvSpPr/>
          <p:nvPr/>
        </p:nvSpPr>
        <p:spPr>
          <a:xfrm>
            <a:off x="548640" y="3575304"/>
            <a:ext cx="11064240" cy="749808"/>
          </a:xfrm>
          <a:prstGeom prst="roundRect">
            <a:avLst>
              <a:gd name="adj" fmla="val 9756"/>
            </a:avLst>
          </a:prstGeom>
          <a:solidFill>
            <a:srgbClr val="E8ECF5"/>
          </a:solidFill>
          <a:ln/>
        </p:spPr>
      </p:sp>
      <p:sp>
        <p:nvSpPr>
          <p:cNvPr id="17" name="Shape 15"/>
          <p:cNvSpPr/>
          <p:nvPr/>
        </p:nvSpPr>
        <p:spPr>
          <a:xfrm>
            <a:off x="777240" y="3675888"/>
            <a:ext cx="548640" cy="548640"/>
          </a:xfrm>
          <a:prstGeom prst="ellipse">
            <a:avLst/>
          </a:prstGeom>
          <a:solidFill>
            <a:srgbClr val="3A5488"/>
          </a:solidFill>
          <a:ln/>
        </p:spPr>
      </p:sp>
      <p:sp>
        <p:nvSpPr>
          <p:cNvPr id="18" name="Text 16"/>
          <p:cNvSpPr/>
          <p:nvPr/>
        </p:nvSpPr>
        <p:spPr>
          <a:xfrm>
            <a:off x="777240" y="3675888"/>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G</a:t>
            </a:r>
            <a:endParaRPr lang="en-US" sz="1600" dirty="0"/>
          </a:p>
        </p:txBody>
      </p:sp>
      <p:sp>
        <p:nvSpPr>
          <p:cNvPr id="19" name="Text 17"/>
          <p:cNvSpPr/>
          <p:nvPr/>
        </p:nvSpPr>
        <p:spPr>
          <a:xfrm>
            <a:off x="1508760" y="3648456"/>
            <a:ext cx="2286000" cy="548640"/>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Greek Root</a:t>
            </a:r>
            <a:endParaRPr lang="en-US" sz="1500" dirty="0"/>
          </a:p>
        </p:txBody>
      </p:sp>
      <p:sp>
        <p:nvSpPr>
          <p:cNvPr id="20" name="Text 18"/>
          <p:cNvSpPr/>
          <p:nvPr/>
        </p:nvSpPr>
        <p:spPr>
          <a:xfrm>
            <a:off x="3931920" y="3648456"/>
            <a:ext cx="3291840" cy="548640"/>
          </a:xfrm>
          <a:prstGeom prst="rect">
            <a:avLst/>
          </a:prstGeom>
          <a:noFill/>
          <a:ln/>
        </p:spPr>
        <p:txBody>
          <a:bodyPr wrap="square" lIns="0" tIns="0" rIns="0" bIns="0" rtlCol="0" anchor="ctr"/>
          <a:lstStyle/>
          <a:p>
            <a:pPr marL="0" indent="0">
              <a:buNone/>
            </a:pPr>
            <a:r>
              <a:rPr lang="en-US" sz="1350" dirty="0">
                <a:solidFill>
                  <a:srgbClr val="23324F"/>
                </a:solidFill>
                <a:latin typeface="Calibri" pitchFamily="34" charset="0"/>
                <a:ea typeface="Calibri" pitchFamily="34" charset="-122"/>
                <a:cs typeface="Calibri" pitchFamily="34" charset="-120"/>
              </a:rPr>
              <a:t>tele-, phon-, bio-</a:t>
            </a:r>
            <a:endParaRPr lang="en-US" sz="1350" dirty="0"/>
          </a:p>
        </p:txBody>
      </p:sp>
      <p:sp>
        <p:nvSpPr>
          <p:cNvPr id="21" name="Text 19"/>
          <p:cNvSpPr/>
          <p:nvPr/>
        </p:nvSpPr>
        <p:spPr>
          <a:xfrm>
            <a:off x="7498080" y="3648456"/>
            <a:ext cx="3931920" cy="548640"/>
          </a:xfrm>
          <a:prstGeom prst="rect">
            <a:avLst/>
          </a:prstGeom>
          <a:noFill/>
          <a:ln/>
        </p:spPr>
        <p:txBody>
          <a:bodyPr wrap="square" lIns="0" tIns="0" rIns="0" bIns="0" rtlCol="0" anchor="ctr"/>
          <a:lstStyle/>
          <a:p>
            <a:pPr marL="0" indent="0">
              <a:buNone/>
            </a:pPr>
            <a:r>
              <a:rPr lang="en-US" sz="1350" b="1" dirty="0">
                <a:solidFill>
                  <a:srgbClr val="C9A227"/>
                </a:solidFill>
                <a:latin typeface="Calibri" pitchFamily="34" charset="0"/>
                <a:ea typeface="Calibri" pitchFamily="34" charset="-122"/>
                <a:cs typeface="Calibri" pitchFamily="34" charset="-120"/>
              </a:rPr>
              <a:t>telephone, biology</a:t>
            </a:r>
            <a:endParaRPr lang="en-US" sz="1350" dirty="0"/>
          </a:p>
        </p:txBody>
      </p:sp>
      <p:sp>
        <p:nvSpPr>
          <p:cNvPr id="22" name="Shape 20"/>
          <p:cNvSpPr/>
          <p:nvPr/>
        </p:nvSpPr>
        <p:spPr>
          <a:xfrm>
            <a:off x="548640" y="4471416"/>
            <a:ext cx="11064240" cy="749808"/>
          </a:xfrm>
          <a:prstGeom prst="roundRect">
            <a:avLst>
              <a:gd name="adj" fmla="val 9756"/>
            </a:avLst>
          </a:prstGeom>
          <a:solidFill>
            <a:srgbClr val="E8ECF5"/>
          </a:solidFill>
          <a:ln/>
        </p:spPr>
      </p:sp>
      <p:sp>
        <p:nvSpPr>
          <p:cNvPr id="23" name="Shape 21"/>
          <p:cNvSpPr/>
          <p:nvPr/>
        </p:nvSpPr>
        <p:spPr>
          <a:xfrm>
            <a:off x="777240" y="4572000"/>
            <a:ext cx="548640" cy="548640"/>
          </a:xfrm>
          <a:prstGeom prst="ellipse">
            <a:avLst/>
          </a:prstGeom>
          <a:solidFill>
            <a:srgbClr val="4863A0"/>
          </a:solidFill>
          <a:ln/>
        </p:spPr>
      </p:sp>
      <p:sp>
        <p:nvSpPr>
          <p:cNvPr id="24" name="Text 22"/>
          <p:cNvSpPr/>
          <p:nvPr/>
        </p:nvSpPr>
        <p:spPr>
          <a:xfrm>
            <a:off x="777240" y="457200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L</a:t>
            </a:r>
            <a:endParaRPr lang="en-US" sz="1600" dirty="0"/>
          </a:p>
        </p:txBody>
      </p:sp>
      <p:sp>
        <p:nvSpPr>
          <p:cNvPr id="25" name="Text 23"/>
          <p:cNvSpPr/>
          <p:nvPr/>
        </p:nvSpPr>
        <p:spPr>
          <a:xfrm>
            <a:off x="1508760" y="4544568"/>
            <a:ext cx="2286000" cy="548640"/>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Latin Root</a:t>
            </a:r>
            <a:endParaRPr lang="en-US" sz="1500" dirty="0"/>
          </a:p>
        </p:txBody>
      </p:sp>
      <p:sp>
        <p:nvSpPr>
          <p:cNvPr id="26" name="Text 24"/>
          <p:cNvSpPr/>
          <p:nvPr/>
        </p:nvSpPr>
        <p:spPr>
          <a:xfrm>
            <a:off x="3931920" y="4544568"/>
            <a:ext cx="3291840" cy="548640"/>
          </a:xfrm>
          <a:prstGeom prst="rect">
            <a:avLst/>
          </a:prstGeom>
          <a:noFill/>
          <a:ln/>
        </p:spPr>
        <p:txBody>
          <a:bodyPr wrap="square" lIns="0" tIns="0" rIns="0" bIns="0" rtlCol="0" anchor="ctr"/>
          <a:lstStyle/>
          <a:p>
            <a:pPr marL="0" indent="0">
              <a:buNone/>
            </a:pPr>
            <a:r>
              <a:rPr lang="en-US" sz="1350" dirty="0">
                <a:solidFill>
                  <a:srgbClr val="23324F"/>
                </a:solidFill>
                <a:latin typeface="Calibri" pitchFamily="34" charset="0"/>
                <a:ea typeface="Calibri" pitchFamily="34" charset="-122"/>
                <a:cs typeface="Calibri" pitchFamily="34" charset="-120"/>
              </a:rPr>
              <a:t>dict-, port-, spect-</a:t>
            </a:r>
            <a:endParaRPr lang="en-US" sz="1350" dirty="0"/>
          </a:p>
        </p:txBody>
      </p:sp>
      <p:sp>
        <p:nvSpPr>
          <p:cNvPr id="27" name="Text 25"/>
          <p:cNvSpPr/>
          <p:nvPr/>
        </p:nvSpPr>
        <p:spPr>
          <a:xfrm>
            <a:off x="7498080" y="4544568"/>
            <a:ext cx="3931920" cy="548640"/>
          </a:xfrm>
          <a:prstGeom prst="rect">
            <a:avLst/>
          </a:prstGeom>
          <a:noFill/>
          <a:ln/>
        </p:spPr>
        <p:txBody>
          <a:bodyPr wrap="square" lIns="0" tIns="0" rIns="0" bIns="0" rtlCol="0" anchor="ctr"/>
          <a:lstStyle/>
          <a:p>
            <a:pPr marL="0" indent="0">
              <a:buNone/>
            </a:pPr>
            <a:r>
              <a:rPr lang="en-US" sz="1350" b="1" dirty="0">
                <a:solidFill>
                  <a:srgbClr val="C9A227"/>
                </a:solidFill>
                <a:latin typeface="Calibri" pitchFamily="34" charset="0"/>
                <a:ea typeface="Calibri" pitchFamily="34" charset="-122"/>
                <a:cs typeface="Calibri" pitchFamily="34" charset="-120"/>
              </a:rPr>
              <a:t>dictate, transport</a:t>
            </a:r>
            <a:endParaRPr lang="en-US" sz="1350" dirty="0"/>
          </a:p>
        </p:txBody>
      </p:sp>
      <p:sp>
        <p:nvSpPr>
          <p:cNvPr id="28" name="Text 26"/>
          <p:cNvSpPr/>
          <p:nvPr/>
        </p:nvSpPr>
        <p:spPr>
          <a:xfrm>
            <a:off x="548640" y="5477256"/>
            <a:ext cx="11064240" cy="457200"/>
          </a:xfrm>
          <a:prstGeom prst="rect">
            <a:avLst/>
          </a:prstGeom>
          <a:noFill/>
          <a:ln/>
        </p:spPr>
        <p:txBody>
          <a:bodyPr wrap="square" lIns="0" tIns="0" rIns="0" bIns="0" rtlCol="0" anchor="ctr"/>
          <a:lstStyle/>
          <a:p>
            <a:pPr marL="0" indent="0">
              <a:buNone/>
            </a:pPr>
            <a:r>
              <a:rPr lang="en-US" sz="1250" i="1" dirty="0">
                <a:solidFill>
                  <a:srgbClr val="5B6B8C"/>
                </a:solidFill>
                <a:latin typeface="Calibri" pitchFamily="34" charset="0"/>
                <a:ea typeface="Calibri" pitchFamily="34" charset="-122"/>
                <a:cs typeface="Calibri" pitchFamily="34" charset="-120"/>
              </a:rPr>
              <a:t>Every derived word is built on a root — learning roots multiplies the number of words you can decode.</a:t>
            </a:r>
            <a:endParaRPr lang="en-US" sz="1250" dirty="0"/>
          </a:p>
        </p:txBody>
      </p:sp>
      <p:sp>
        <p:nvSpPr>
          <p:cNvPr id="29" name="Text 27"/>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A6AFC6"/>
                </a:solidFill>
                <a:latin typeface="Calibri" pitchFamily="34" charset="0"/>
                <a:ea typeface="Calibri" pitchFamily="34" charset="-122"/>
                <a:cs typeface="Calibri" pitchFamily="34" charset="-120"/>
              </a:rPr>
              <a:t>DERIVATIONAL MORPHOLOGY</a:t>
            </a:r>
            <a:endParaRPr lang="en-US" sz="900" dirty="0"/>
          </a:p>
        </p:txBody>
      </p:sp>
      <p:sp>
        <p:nvSpPr>
          <p:cNvPr id="30" name="Text 28"/>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900" dirty="0">
                <a:solidFill>
                  <a:srgbClr val="A6AFC6"/>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lIns="0" tIns="0" rIns="0" bIns="0" rtlCol="0" anchor="ctr"/>
          <a:lstStyle/>
          <a:p>
            <a:pPr marL="0" indent="0">
              <a:buNone/>
            </a:pPr>
            <a:r>
              <a:rPr lang="en-US" sz="3000" b="1" dirty="0">
                <a:solidFill>
                  <a:srgbClr val="1B2A4A"/>
                </a:solidFill>
                <a:latin typeface="Cambria" pitchFamily="34" charset="0"/>
                <a:ea typeface="Cambria" pitchFamily="34" charset="-122"/>
                <a:cs typeface="Cambria" pitchFamily="34" charset="-120"/>
              </a:rPr>
              <a:t>Beyond Derivation: Other Word-Formation Processes</a:t>
            </a:r>
            <a:endParaRPr lang="en-US" sz="3000" dirty="0"/>
          </a:p>
        </p:txBody>
      </p:sp>
      <p:sp>
        <p:nvSpPr>
          <p:cNvPr id="3" name="Text 1"/>
          <p:cNvSpPr/>
          <p:nvPr/>
        </p:nvSpPr>
        <p:spPr>
          <a:xfrm>
            <a:off x="548640" y="1051560"/>
            <a:ext cx="10515600" cy="365760"/>
          </a:xfrm>
          <a:prstGeom prst="rect">
            <a:avLst/>
          </a:prstGeom>
          <a:noFill/>
          <a:ln/>
        </p:spPr>
        <p:txBody>
          <a:bodyPr wrap="square" lIns="0" tIns="0" rIns="0" bIns="0" rtlCol="0" anchor="ctr"/>
          <a:lstStyle/>
          <a:p>
            <a:pPr marL="0" indent="0">
              <a:buNone/>
            </a:pPr>
            <a:r>
              <a:rPr lang="en-US" sz="1400" i="1" dirty="0">
                <a:solidFill>
                  <a:srgbClr val="5B6B8C"/>
                </a:solidFill>
                <a:latin typeface="Calibri" pitchFamily="34" charset="0"/>
                <a:ea typeface="Calibri" pitchFamily="34" charset="-122"/>
                <a:cs typeface="Calibri" pitchFamily="34" charset="-120"/>
              </a:rPr>
              <a:t>Derivation is one path to new words — English also builds vocabulary these other ways</a:t>
            </a:r>
            <a:endParaRPr lang="en-US" sz="1400" dirty="0"/>
          </a:p>
        </p:txBody>
      </p:sp>
      <p:sp>
        <p:nvSpPr>
          <p:cNvPr id="4" name="Shape 2"/>
          <p:cNvSpPr/>
          <p:nvPr/>
        </p:nvSpPr>
        <p:spPr>
          <a:xfrm>
            <a:off x="548640" y="1783080"/>
            <a:ext cx="11064240" cy="749808"/>
          </a:xfrm>
          <a:prstGeom prst="roundRect">
            <a:avLst>
              <a:gd name="adj" fmla="val 9756"/>
            </a:avLst>
          </a:prstGeom>
          <a:solidFill>
            <a:srgbClr val="E8ECF5"/>
          </a:solidFill>
          <a:ln/>
        </p:spPr>
      </p:sp>
      <p:sp>
        <p:nvSpPr>
          <p:cNvPr id="5" name="Shape 3"/>
          <p:cNvSpPr/>
          <p:nvPr/>
        </p:nvSpPr>
        <p:spPr>
          <a:xfrm>
            <a:off x="777240" y="1883664"/>
            <a:ext cx="548640" cy="548640"/>
          </a:xfrm>
          <a:prstGeom prst="ellipse">
            <a:avLst/>
          </a:prstGeom>
          <a:solidFill>
            <a:srgbClr val="1B2A4A"/>
          </a:solidFill>
          <a:ln/>
        </p:spPr>
      </p:sp>
      <p:sp>
        <p:nvSpPr>
          <p:cNvPr id="6" name="Text 4"/>
          <p:cNvSpPr/>
          <p:nvPr/>
        </p:nvSpPr>
        <p:spPr>
          <a:xfrm>
            <a:off x="777240" y="1883664"/>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CM</a:t>
            </a:r>
            <a:endParaRPr lang="en-US" sz="1600" dirty="0"/>
          </a:p>
        </p:txBody>
      </p:sp>
      <p:sp>
        <p:nvSpPr>
          <p:cNvPr id="7" name="Text 5"/>
          <p:cNvSpPr/>
          <p:nvPr/>
        </p:nvSpPr>
        <p:spPr>
          <a:xfrm>
            <a:off x="1508760" y="1856232"/>
            <a:ext cx="2286000" cy="548640"/>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Compounding</a:t>
            </a:r>
            <a:endParaRPr lang="en-US" sz="1500" dirty="0"/>
          </a:p>
        </p:txBody>
      </p:sp>
      <p:sp>
        <p:nvSpPr>
          <p:cNvPr id="8" name="Text 6"/>
          <p:cNvSpPr/>
          <p:nvPr/>
        </p:nvSpPr>
        <p:spPr>
          <a:xfrm>
            <a:off x="3931920" y="1856232"/>
            <a:ext cx="3291840" cy="548640"/>
          </a:xfrm>
          <a:prstGeom prst="rect">
            <a:avLst/>
          </a:prstGeom>
          <a:noFill/>
          <a:ln/>
        </p:spPr>
        <p:txBody>
          <a:bodyPr wrap="square" lIns="0" tIns="0" rIns="0" bIns="0" rtlCol="0" anchor="ctr"/>
          <a:lstStyle/>
          <a:p>
            <a:pPr marL="0" indent="0">
              <a:buNone/>
            </a:pPr>
            <a:r>
              <a:rPr lang="en-US" sz="1350" dirty="0">
                <a:solidFill>
                  <a:srgbClr val="23324F"/>
                </a:solidFill>
                <a:latin typeface="Calibri" pitchFamily="34" charset="0"/>
                <a:ea typeface="Calibri" pitchFamily="34" charset="-122"/>
                <a:cs typeface="Calibri" pitchFamily="34" charset="-120"/>
              </a:rPr>
              <a:t>joining two whole words</a:t>
            </a:r>
            <a:endParaRPr lang="en-US" sz="1350" dirty="0"/>
          </a:p>
        </p:txBody>
      </p:sp>
      <p:sp>
        <p:nvSpPr>
          <p:cNvPr id="9" name="Text 7"/>
          <p:cNvSpPr/>
          <p:nvPr/>
        </p:nvSpPr>
        <p:spPr>
          <a:xfrm>
            <a:off x="7498080" y="1856232"/>
            <a:ext cx="3931920" cy="548640"/>
          </a:xfrm>
          <a:prstGeom prst="rect">
            <a:avLst/>
          </a:prstGeom>
          <a:noFill/>
          <a:ln/>
        </p:spPr>
        <p:txBody>
          <a:bodyPr wrap="square" lIns="0" tIns="0" rIns="0" bIns="0" rtlCol="0" anchor="ctr"/>
          <a:lstStyle/>
          <a:p>
            <a:pPr marL="0" indent="0">
              <a:buNone/>
            </a:pPr>
            <a:r>
              <a:rPr lang="en-US" sz="1350" b="1" dirty="0">
                <a:solidFill>
                  <a:srgbClr val="C9A227"/>
                </a:solidFill>
                <a:latin typeface="Calibri" pitchFamily="34" charset="0"/>
                <a:ea typeface="Calibri" pitchFamily="34" charset="-122"/>
                <a:cs typeface="Calibri" pitchFamily="34" charset="-120"/>
              </a:rPr>
              <a:t>note + book → notebook</a:t>
            </a:r>
            <a:endParaRPr lang="en-US" sz="1350" dirty="0"/>
          </a:p>
        </p:txBody>
      </p:sp>
      <p:sp>
        <p:nvSpPr>
          <p:cNvPr id="10" name="Shape 8"/>
          <p:cNvSpPr/>
          <p:nvPr/>
        </p:nvSpPr>
        <p:spPr>
          <a:xfrm>
            <a:off x="548640" y="2679192"/>
            <a:ext cx="11064240" cy="749808"/>
          </a:xfrm>
          <a:prstGeom prst="roundRect">
            <a:avLst>
              <a:gd name="adj" fmla="val 9756"/>
            </a:avLst>
          </a:prstGeom>
          <a:solidFill>
            <a:srgbClr val="E8ECF5"/>
          </a:solidFill>
          <a:ln/>
        </p:spPr>
      </p:sp>
      <p:sp>
        <p:nvSpPr>
          <p:cNvPr id="11" name="Shape 9"/>
          <p:cNvSpPr/>
          <p:nvPr/>
        </p:nvSpPr>
        <p:spPr>
          <a:xfrm>
            <a:off x="777240" y="2779776"/>
            <a:ext cx="548640" cy="548640"/>
          </a:xfrm>
          <a:prstGeom prst="ellipse">
            <a:avLst/>
          </a:prstGeom>
          <a:solidFill>
            <a:srgbClr val="2C4270"/>
          </a:solidFill>
          <a:ln/>
        </p:spPr>
      </p:sp>
      <p:sp>
        <p:nvSpPr>
          <p:cNvPr id="12" name="Text 10"/>
          <p:cNvSpPr/>
          <p:nvPr/>
        </p:nvSpPr>
        <p:spPr>
          <a:xfrm>
            <a:off x="777240" y="2779776"/>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BL</a:t>
            </a:r>
            <a:endParaRPr lang="en-US" sz="1600" dirty="0"/>
          </a:p>
        </p:txBody>
      </p:sp>
      <p:sp>
        <p:nvSpPr>
          <p:cNvPr id="13" name="Text 11"/>
          <p:cNvSpPr/>
          <p:nvPr/>
        </p:nvSpPr>
        <p:spPr>
          <a:xfrm>
            <a:off x="1508760" y="2752344"/>
            <a:ext cx="2286000" cy="548640"/>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Blending</a:t>
            </a:r>
            <a:endParaRPr lang="en-US" sz="1500" dirty="0"/>
          </a:p>
        </p:txBody>
      </p:sp>
      <p:sp>
        <p:nvSpPr>
          <p:cNvPr id="14" name="Text 12"/>
          <p:cNvSpPr/>
          <p:nvPr/>
        </p:nvSpPr>
        <p:spPr>
          <a:xfrm>
            <a:off x="3931920" y="2752344"/>
            <a:ext cx="3291840" cy="548640"/>
          </a:xfrm>
          <a:prstGeom prst="rect">
            <a:avLst/>
          </a:prstGeom>
          <a:noFill/>
          <a:ln/>
        </p:spPr>
        <p:txBody>
          <a:bodyPr wrap="square" lIns="0" tIns="0" rIns="0" bIns="0" rtlCol="0" anchor="ctr"/>
          <a:lstStyle/>
          <a:p>
            <a:pPr marL="0" indent="0">
              <a:buNone/>
            </a:pPr>
            <a:r>
              <a:rPr lang="en-US" sz="1350" dirty="0">
                <a:solidFill>
                  <a:srgbClr val="23324F"/>
                </a:solidFill>
                <a:latin typeface="Calibri" pitchFamily="34" charset="0"/>
                <a:ea typeface="Calibri" pitchFamily="34" charset="-122"/>
                <a:cs typeface="Calibri" pitchFamily="34" charset="-120"/>
              </a:rPr>
              <a:t>merging parts of two words</a:t>
            </a:r>
            <a:endParaRPr lang="en-US" sz="1350" dirty="0"/>
          </a:p>
        </p:txBody>
      </p:sp>
      <p:sp>
        <p:nvSpPr>
          <p:cNvPr id="15" name="Text 13"/>
          <p:cNvSpPr/>
          <p:nvPr/>
        </p:nvSpPr>
        <p:spPr>
          <a:xfrm>
            <a:off x="7498080" y="2752344"/>
            <a:ext cx="3931920" cy="548640"/>
          </a:xfrm>
          <a:prstGeom prst="rect">
            <a:avLst/>
          </a:prstGeom>
          <a:noFill/>
          <a:ln/>
        </p:spPr>
        <p:txBody>
          <a:bodyPr wrap="square" lIns="0" tIns="0" rIns="0" bIns="0" rtlCol="0" anchor="ctr"/>
          <a:lstStyle/>
          <a:p>
            <a:pPr marL="0" indent="0">
              <a:buNone/>
            </a:pPr>
            <a:r>
              <a:rPr lang="en-US" sz="1350" b="1" dirty="0">
                <a:solidFill>
                  <a:srgbClr val="C9A227"/>
                </a:solidFill>
                <a:latin typeface="Calibri" pitchFamily="34" charset="0"/>
                <a:ea typeface="Calibri" pitchFamily="34" charset="-122"/>
                <a:cs typeface="Calibri" pitchFamily="34" charset="-120"/>
              </a:rPr>
              <a:t>smoke + fog → smog</a:t>
            </a:r>
            <a:endParaRPr lang="en-US" sz="1350" dirty="0"/>
          </a:p>
        </p:txBody>
      </p:sp>
      <p:sp>
        <p:nvSpPr>
          <p:cNvPr id="16" name="Shape 14"/>
          <p:cNvSpPr/>
          <p:nvPr/>
        </p:nvSpPr>
        <p:spPr>
          <a:xfrm>
            <a:off x="548640" y="3575304"/>
            <a:ext cx="11064240" cy="749808"/>
          </a:xfrm>
          <a:prstGeom prst="roundRect">
            <a:avLst>
              <a:gd name="adj" fmla="val 9756"/>
            </a:avLst>
          </a:prstGeom>
          <a:solidFill>
            <a:srgbClr val="E8ECF5"/>
          </a:solidFill>
          <a:ln/>
        </p:spPr>
      </p:sp>
      <p:sp>
        <p:nvSpPr>
          <p:cNvPr id="17" name="Shape 15"/>
          <p:cNvSpPr/>
          <p:nvPr/>
        </p:nvSpPr>
        <p:spPr>
          <a:xfrm>
            <a:off x="777240" y="3675888"/>
            <a:ext cx="548640" cy="548640"/>
          </a:xfrm>
          <a:prstGeom prst="ellipse">
            <a:avLst/>
          </a:prstGeom>
          <a:solidFill>
            <a:srgbClr val="3A5488"/>
          </a:solidFill>
          <a:ln/>
        </p:spPr>
      </p:sp>
      <p:sp>
        <p:nvSpPr>
          <p:cNvPr id="18" name="Text 16"/>
          <p:cNvSpPr/>
          <p:nvPr/>
        </p:nvSpPr>
        <p:spPr>
          <a:xfrm>
            <a:off x="777240" y="3675888"/>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CV</a:t>
            </a:r>
            <a:endParaRPr lang="en-US" sz="1600" dirty="0"/>
          </a:p>
        </p:txBody>
      </p:sp>
      <p:sp>
        <p:nvSpPr>
          <p:cNvPr id="19" name="Text 17"/>
          <p:cNvSpPr/>
          <p:nvPr/>
        </p:nvSpPr>
        <p:spPr>
          <a:xfrm>
            <a:off x="1508760" y="3648456"/>
            <a:ext cx="2286000" cy="548640"/>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Conversion</a:t>
            </a:r>
            <a:endParaRPr lang="en-US" sz="1500" dirty="0"/>
          </a:p>
        </p:txBody>
      </p:sp>
      <p:sp>
        <p:nvSpPr>
          <p:cNvPr id="20" name="Text 18"/>
          <p:cNvSpPr/>
          <p:nvPr/>
        </p:nvSpPr>
        <p:spPr>
          <a:xfrm>
            <a:off x="3931920" y="3648456"/>
            <a:ext cx="3291840" cy="548640"/>
          </a:xfrm>
          <a:prstGeom prst="rect">
            <a:avLst/>
          </a:prstGeom>
          <a:noFill/>
          <a:ln/>
        </p:spPr>
        <p:txBody>
          <a:bodyPr wrap="square" lIns="0" tIns="0" rIns="0" bIns="0" rtlCol="0" anchor="ctr"/>
          <a:lstStyle/>
          <a:p>
            <a:pPr marL="0" indent="0">
              <a:buNone/>
            </a:pPr>
            <a:r>
              <a:rPr lang="en-US" sz="1350" dirty="0">
                <a:solidFill>
                  <a:srgbClr val="23324F"/>
                </a:solidFill>
                <a:latin typeface="Calibri" pitchFamily="34" charset="0"/>
                <a:ea typeface="Calibri" pitchFamily="34" charset="-122"/>
                <a:cs typeface="Calibri" pitchFamily="34" charset="-120"/>
              </a:rPr>
              <a:t>shifting word class, no affix</a:t>
            </a:r>
            <a:endParaRPr lang="en-US" sz="1350" dirty="0"/>
          </a:p>
        </p:txBody>
      </p:sp>
      <p:sp>
        <p:nvSpPr>
          <p:cNvPr id="21" name="Text 19"/>
          <p:cNvSpPr/>
          <p:nvPr/>
        </p:nvSpPr>
        <p:spPr>
          <a:xfrm>
            <a:off x="7498080" y="3648456"/>
            <a:ext cx="3931920" cy="548640"/>
          </a:xfrm>
          <a:prstGeom prst="rect">
            <a:avLst/>
          </a:prstGeom>
          <a:noFill/>
          <a:ln/>
        </p:spPr>
        <p:txBody>
          <a:bodyPr wrap="square" lIns="0" tIns="0" rIns="0" bIns="0" rtlCol="0" anchor="ctr"/>
          <a:lstStyle/>
          <a:p>
            <a:pPr marL="0" indent="0">
              <a:buNone/>
            </a:pPr>
            <a:r>
              <a:rPr lang="en-US" sz="1350" b="1" dirty="0">
                <a:solidFill>
                  <a:srgbClr val="C9A227"/>
                </a:solidFill>
                <a:latin typeface="Calibri" pitchFamily="34" charset="0"/>
                <a:ea typeface="Calibri" pitchFamily="34" charset="-122"/>
                <a:cs typeface="Calibri" pitchFamily="34" charset="-120"/>
              </a:rPr>
              <a:t>email (noun) → to email (verb)</a:t>
            </a:r>
            <a:endParaRPr lang="en-US" sz="1350" dirty="0"/>
          </a:p>
        </p:txBody>
      </p:sp>
      <p:sp>
        <p:nvSpPr>
          <p:cNvPr id="22" name="Shape 20"/>
          <p:cNvSpPr/>
          <p:nvPr/>
        </p:nvSpPr>
        <p:spPr>
          <a:xfrm>
            <a:off x="548640" y="4471416"/>
            <a:ext cx="11064240" cy="749808"/>
          </a:xfrm>
          <a:prstGeom prst="roundRect">
            <a:avLst>
              <a:gd name="adj" fmla="val 9756"/>
            </a:avLst>
          </a:prstGeom>
          <a:solidFill>
            <a:srgbClr val="E8ECF5"/>
          </a:solidFill>
          <a:ln/>
        </p:spPr>
      </p:sp>
      <p:sp>
        <p:nvSpPr>
          <p:cNvPr id="23" name="Shape 21"/>
          <p:cNvSpPr/>
          <p:nvPr/>
        </p:nvSpPr>
        <p:spPr>
          <a:xfrm>
            <a:off x="777240" y="4572000"/>
            <a:ext cx="548640" cy="548640"/>
          </a:xfrm>
          <a:prstGeom prst="ellipse">
            <a:avLst/>
          </a:prstGeom>
          <a:solidFill>
            <a:srgbClr val="4863A0"/>
          </a:solidFill>
          <a:ln/>
        </p:spPr>
      </p:sp>
      <p:sp>
        <p:nvSpPr>
          <p:cNvPr id="24" name="Text 22"/>
          <p:cNvSpPr/>
          <p:nvPr/>
        </p:nvSpPr>
        <p:spPr>
          <a:xfrm>
            <a:off x="777240" y="457200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CL</a:t>
            </a:r>
            <a:endParaRPr lang="en-US" sz="1600" dirty="0"/>
          </a:p>
        </p:txBody>
      </p:sp>
      <p:sp>
        <p:nvSpPr>
          <p:cNvPr id="25" name="Text 23"/>
          <p:cNvSpPr/>
          <p:nvPr/>
        </p:nvSpPr>
        <p:spPr>
          <a:xfrm>
            <a:off x="1508760" y="4544568"/>
            <a:ext cx="2286000" cy="548640"/>
          </a:xfrm>
          <a:prstGeom prst="rect">
            <a:avLst/>
          </a:prstGeom>
          <a:noFill/>
          <a:ln/>
        </p:spPr>
        <p:txBody>
          <a:bodyPr wrap="square" lIns="0" tIns="0" rIns="0" bIns="0"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Clipping</a:t>
            </a:r>
            <a:endParaRPr lang="en-US" sz="1500" dirty="0"/>
          </a:p>
        </p:txBody>
      </p:sp>
      <p:sp>
        <p:nvSpPr>
          <p:cNvPr id="26" name="Text 24"/>
          <p:cNvSpPr/>
          <p:nvPr/>
        </p:nvSpPr>
        <p:spPr>
          <a:xfrm>
            <a:off x="3931920" y="4544568"/>
            <a:ext cx="3291840" cy="548640"/>
          </a:xfrm>
          <a:prstGeom prst="rect">
            <a:avLst/>
          </a:prstGeom>
          <a:noFill/>
          <a:ln/>
        </p:spPr>
        <p:txBody>
          <a:bodyPr wrap="square" lIns="0" tIns="0" rIns="0" bIns="0" rtlCol="0" anchor="ctr"/>
          <a:lstStyle/>
          <a:p>
            <a:pPr marL="0" indent="0">
              <a:buNone/>
            </a:pPr>
            <a:r>
              <a:rPr lang="en-US" sz="1350" dirty="0">
                <a:solidFill>
                  <a:srgbClr val="23324F"/>
                </a:solidFill>
                <a:latin typeface="Calibri" pitchFamily="34" charset="0"/>
                <a:ea typeface="Calibri" pitchFamily="34" charset="-122"/>
                <a:cs typeface="Calibri" pitchFamily="34" charset="-120"/>
              </a:rPr>
              <a:t>shortening a longer word</a:t>
            </a:r>
            <a:endParaRPr lang="en-US" sz="1350" dirty="0"/>
          </a:p>
        </p:txBody>
      </p:sp>
      <p:sp>
        <p:nvSpPr>
          <p:cNvPr id="27" name="Text 25"/>
          <p:cNvSpPr/>
          <p:nvPr/>
        </p:nvSpPr>
        <p:spPr>
          <a:xfrm>
            <a:off x="7498080" y="4544568"/>
            <a:ext cx="3931920" cy="548640"/>
          </a:xfrm>
          <a:prstGeom prst="rect">
            <a:avLst/>
          </a:prstGeom>
          <a:noFill/>
          <a:ln/>
        </p:spPr>
        <p:txBody>
          <a:bodyPr wrap="square" lIns="0" tIns="0" rIns="0" bIns="0" rtlCol="0" anchor="ctr"/>
          <a:lstStyle/>
          <a:p>
            <a:pPr marL="0" indent="0">
              <a:buNone/>
            </a:pPr>
            <a:r>
              <a:rPr lang="en-US" sz="1350" b="1" dirty="0">
                <a:solidFill>
                  <a:srgbClr val="C9A227"/>
                </a:solidFill>
                <a:latin typeface="Calibri" pitchFamily="34" charset="0"/>
                <a:ea typeface="Calibri" pitchFamily="34" charset="-122"/>
                <a:cs typeface="Calibri" pitchFamily="34" charset="-120"/>
              </a:rPr>
              <a:t>advertisement → ad</a:t>
            </a:r>
            <a:endParaRPr lang="en-US" sz="1350" dirty="0"/>
          </a:p>
        </p:txBody>
      </p:sp>
      <p:sp>
        <p:nvSpPr>
          <p:cNvPr id="28" name="Text 26"/>
          <p:cNvSpPr/>
          <p:nvPr/>
        </p:nvSpPr>
        <p:spPr>
          <a:xfrm>
            <a:off x="548640" y="5477256"/>
            <a:ext cx="11064240" cy="457200"/>
          </a:xfrm>
          <a:prstGeom prst="rect">
            <a:avLst/>
          </a:prstGeom>
          <a:noFill/>
          <a:ln/>
        </p:spPr>
        <p:txBody>
          <a:bodyPr wrap="square" lIns="0" tIns="0" rIns="0" bIns="0" rtlCol="0" anchor="ctr"/>
          <a:lstStyle/>
          <a:p>
            <a:pPr marL="0" indent="0">
              <a:buNone/>
            </a:pPr>
            <a:r>
              <a:rPr lang="en-US" sz="1250" i="1" dirty="0">
                <a:solidFill>
                  <a:srgbClr val="5B6B8C"/>
                </a:solidFill>
                <a:latin typeface="Calibri" pitchFamily="34" charset="0"/>
                <a:ea typeface="Calibri" pitchFamily="34" charset="-122"/>
                <a:cs typeface="Calibri" pitchFamily="34" charset="-120"/>
              </a:rPr>
              <a:t>Unlike derivation, these processes don't rely on adding prefixes or suffixes to a root.</a:t>
            </a:r>
            <a:endParaRPr lang="en-US" sz="1250" dirty="0"/>
          </a:p>
        </p:txBody>
      </p:sp>
      <p:sp>
        <p:nvSpPr>
          <p:cNvPr id="29" name="Text 27"/>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A6AFC6"/>
                </a:solidFill>
                <a:latin typeface="Calibri" pitchFamily="34" charset="0"/>
                <a:ea typeface="Calibri" pitchFamily="34" charset="-122"/>
                <a:cs typeface="Calibri" pitchFamily="34" charset="-120"/>
              </a:rPr>
              <a:t>DERIVATIONAL MORPHOLOGY</a:t>
            </a:r>
            <a:endParaRPr lang="en-US" sz="900" dirty="0"/>
          </a:p>
        </p:txBody>
      </p:sp>
      <p:sp>
        <p:nvSpPr>
          <p:cNvPr id="30" name="Text 28"/>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900" dirty="0">
                <a:solidFill>
                  <a:srgbClr val="A6AFC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0972800" cy="640080"/>
          </a:xfrm>
          <a:prstGeom prst="rect">
            <a:avLst/>
          </a:prstGeom>
          <a:noFill/>
          <a:ln/>
        </p:spPr>
        <p:txBody>
          <a:bodyPr wrap="square" lIns="0" tIns="0" rIns="0" bIns="0" rtlCol="0" anchor="ctr"/>
          <a:lstStyle/>
          <a:p>
            <a:pPr marL="0" indent="0">
              <a:buNone/>
            </a:pPr>
            <a:r>
              <a:rPr lang="en-US" sz="2800" b="1" dirty="0">
                <a:solidFill>
                  <a:srgbClr val="1B2A4A"/>
                </a:solidFill>
                <a:latin typeface="Cambria" pitchFamily="34" charset="0"/>
                <a:ea typeface="Cambria" pitchFamily="34" charset="-122"/>
                <a:cs typeface="Cambria" pitchFamily="34" charset="-120"/>
              </a:rPr>
              <a:t>Expanding Vocabulary Through Word Families</a:t>
            </a:r>
            <a:endParaRPr lang="en-US" sz="2800" dirty="0"/>
          </a:p>
        </p:txBody>
      </p:sp>
      <p:sp>
        <p:nvSpPr>
          <p:cNvPr id="3" name="Text 1"/>
          <p:cNvSpPr/>
          <p:nvPr/>
        </p:nvSpPr>
        <p:spPr>
          <a:xfrm>
            <a:off x="548640" y="1051560"/>
            <a:ext cx="10515600" cy="365760"/>
          </a:xfrm>
          <a:prstGeom prst="rect">
            <a:avLst/>
          </a:prstGeom>
          <a:noFill/>
          <a:ln/>
        </p:spPr>
        <p:txBody>
          <a:bodyPr wrap="square" lIns="0" tIns="0" rIns="0" bIns="0" rtlCol="0" anchor="ctr"/>
          <a:lstStyle/>
          <a:p>
            <a:pPr marL="0" indent="0">
              <a:buNone/>
            </a:pPr>
            <a:r>
              <a:rPr lang="en-US" sz="1400" i="1" dirty="0">
                <a:solidFill>
                  <a:srgbClr val="5B6B8C"/>
                </a:solidFill>
                <a:latin typeface="Calibri" pitchFamily="34" charset="0"/>
                <a:ea typeface="Calibri" pitchFamily="34" charset="-122"/>
                <a:cs typeface="Calibri" pitchFamily="34" charset="-120"/>
              </a:rPr>
              <a:t>One root, learned once, unlocks an entire family of related words</a:t>
            </a:r>
            <a:endParaRPr lang="en-US" sz="1400" dirty="0"/>
          </a:p>
        </p:txBody>
      </p:sp>
      <p:sp>
        <p:nvSpPr>
          <p:cNvPr id="4" name="Shape 2"/>
          <p:cNvSpPr/>
          <p:nvPr/>
        </p:nvSpPr>
        <p:spPr>
          <a:xfrm>
            <a:off x="822960" y="3246120"/>
            <a:ext cx="1371600" cy="1371600"/>
          </a:xfrm>
          <a:prstGeom prst="ellipse">
            <a:avLst/>
          </a:prstGeom>
          <a:solidFill>
            <a:srgbClr val="1B2A4A"/>
          </a:solidFill>
          <a:ln/>
        </p:spPr>
      </p:sp>
      <p:sp>
        <p:nvSpPr>
          <p:cNvPr id="5" name="Text 3"/>
          <p:cNvSpPr/>
          <p:nvPr/>
        </p:nvSpPr>
        <p:spPr>
          <a:xfrm>
            <a:off x="822960" y="3246120"/>
            <a:ext cx="1371600" cy="1371600"/>
          </a:xfrm>
          <a:prstGeom prst="rect">
            <a:avLst/>
          </a:prstGeom>
          <a:noFill/>
          <a:ln/>
        </p:spPr>
        <p:txBody>
          <a:bodyPr wrap="square" lIns="0" tIns="0" rIns="0" bIns="0" rtlCol="0" anchor="ctr"/>
          <a:lstStyle/>
          <a:p>
            <a:pPr marL="0" indent="0" algn="ctr">
              <a:buNone/>
            </a:pPr>
            <a:r>
              <a:rPr lang="en-US" sz="1400" b="1" dirty="0">
                <a:solidFill>
                  <a:srgbClr val="E4C874"/>
                </a:solidFill>
                <a:latin typeface="Cambria" pitchFamily="34" charset="0"/>
                <a:ea typeface="Cambria" pitchFamily="34" charset="-122"/>
                <a:cs typeface="Cambria" pitchFamily="34" charset="-120"/>
              </a:rPr>
              <a:t>CREATE</a:t>
            </a:r>
            <a:endParaRPr lang="en-US" sz="1400" dirty="0"/>
          </a:p>
        </p:txBody>
      </p:sp>
      <p:sp>
        <p:nvSpPr>
          <p:cNvPr id="6" name="Shape 4"/>
          <p:cNvSpPr/>
          <p:nvPr/>
        </p:nvSpPr>
        <p:spPr>
          <a:xfrm flipV="1">
            <a:off x="2194560" y="2034540"/>
            <a:ext cx="914400" cy="1897380"/>
          </a:xfrm>
          <a:prstGeom prst="line">
            <a:avLst/>
          </a:prstGeom>
          <a:noFill/>
          <a:ln w="15875">
            <a:solidFill>
              <a:srgbClr val="C7D0E6"/>
            </a:solidFill>
            <a:prstDash val="solid"/>
          </a:ln>
        </p:spPr>
      </p:sp>
      <p:sp>
        <p:nvSpPr>
          <p:cNvPr id="7" name="Shape 5"/>
          <p:cNvSpPr/>
          <p:nvPr/>
        </p:nvSpPr>
        <p:spPr>
          <a:xfrm>
            <a:off x="3108960" y="1783080"/>
            <a:ext cx="1920240" cy="502920"/>
          </a:xfrm>
          <a:prstGeom prst="roundRect">
            <a:avLst>
              <a:gd name="adj" fmla="val 14545"/>
            </a:avLst>
          </a:prstGeom>
          <a:solidFill>
            <a:srgbClr val="E8ECF5"/>
          </a:solidFill>
          <a:ln/>
        </p:spPr>
      </p:sp>
      <p:sp>
        <p:nvSpPr>
          <p:cNvPr id="8" name="Text 6"/>
          <p:cNvSpPr/>
          <p:nvPr/>
        </p:nvSpPr>
        <p:spPr>
          <a:xfrm>
            <a:off x="3108960" y="1783080"/>
            <a:ext cx="1920240" cy="502920"/>
          </a:xfrm>
          <a:prstGeom prst="rect">
            <a:avLst/>
          </a:prstGeom>
          <a:noFill/>
          <a:ln/>
        </p:spPr>
        <p:txBody>
          <a:bodyPr wrap="square" lIns="0" tIns="0" rIns="0" bIns="0" rtlCol="0" anchor="ctr"/>
          <a:lstStyle/>
          <a:p>
            <a:pPr marL="0" indent="0" algn="ctr">
              <a:buNone/>
            </a:pPr>
            <a:r>
              <a:rPr lang="en-US" sz="1350" b="1" dirty="0">
                <a:solidFill>
                  <a:srgbClr val="1B2A4A"/>
                </a:solidFill>
                <a:latin typeface="Calibri" pitchFamily="34" charset="0"/>
                <a:ea typeface="Calibri" pitchFamily="34" charset="-122"/>
                <a:cs typeface="Calibri" pitchFamily="34" charset="-120"/>
              </a:rPr>
              <a:t>creator</a:t>
            </a:r>
            <a:endParaRPr lang="en-US" sz="1350" dirty="0"/>
          </a:p>
        </p:txBody>
      </p:sp>
      <p:sp>
        <p:nvSpPr>
          <p:cNvPr id="9" name="Shape 7"/>
          <p:cNvSpPr/>
          <p:nvPr/>
        </p:nvSpPr>
        <p:spPr>
          <a:xfrm flipV="1">
            <a:off x="2194560" y="2857500"/>
            <a:ext cx="914400" cy="1074420"/>
          </a:xfrm>
          <a:prstGeom prst="line">
            <a:avLst/>
          </a:prstGeom>
          <a:noFill/>
          <a:ln w="15875">
            <a:solidFill>
              <a:srgbClr val="C7D0E6"/>
            </a:solidFill>
            <a:prstDash val="solid"/>
          </a:ln>
        </p:spPr>
      </p:sp>
      <p:sp>
        <p:nvSpPr>
          <p:cNvPr id="10" name="Shape 8"/>
          <p:cNvSpPr/>
          <p:nvPr/>
        </p:nvSpPr>
        <p:spPr>
          <a:xfrm>
            <a:off x="3108960" y="2606040"/>
            <a:ext cx="1920240" cy="502920"/>
          </a:xfrm>
          <a:prstGeom prst="roundRect">
            <a:avLst>
              <a:gd name="adj" fmla="val 14545"/>
            </a:avLst>
          </a:prstGeom>
          <a:solidFill>
            <a:srgbClr val="E8ECF5"/>
          </a:solidFill>
          <a:ln/>
        </p:spPr>
      </p:sp>
      <p:sp>
        <p:nvSpPr>
          <p:cNvPr id="11" name="Text 9"/>
          <p:cNvSpPr/>
          <p:nvPr/>
        </p:nvSpPr>
        <p:spPr>
          <a:xfrm>
            <a:off x="3108960" y="2606040"/>
            <a:ext cx="1920240" cy="502920"/>
          </a:xfrm>
          <a:prstGeom prst="rect">
            <a:avLst/>
          </a:prstGeom>
          <a:noFill/>
          <a:ln/>
        </p:spPr>
        <p:txBody>
          <a:bodyPr wrap="square" lIns="0" tIns="0" rIns="0" bIns="0" rtlCol="0" anchor="ctr"/>
          <a:lstStyle/>
          <a:p>
            <a:pPr marL="0" indent="0" algn="ctr">
              <a:buNone/>
            </a:pPr>
            <a:r>
              <a:rPr lang="en-US" sz="1350" b="1" dirty="0">
                <a:solidFill>
                  <a:srgbClr val="1B2A4A"/>
                </a:solidFill>
                <a:latin typeface="Calibri" pitchFamily="34" charset="0"/>
                <a:ea typeface="Calibri" pitchFamily="34" charset="-122"/>
                <a:cs typeface="Calibri" pitchFamily="34" charset="-120"/>
              </a:rPr>
              <a:t>creative</a:t>
            </a:r>
            <a:endParaRPr lang="en-US" sz="1350" dirty="0"/>
          </a:p>
        </p:txBody>
      </p:sp>
      <p:sp>
        <p:nvSpPr>
          <p:cNvPr id="12" name="Shape 10"/>
          <p:cNvSpPr/>
          <p:nvPr/>
        </p:nvSpPr>
        <p:spPr>
          <a:xfrm flipV="1">
            <a:off x="2194560" y="3680460"/>
            <a:ext cx="914400" cy="251460"/>
          </a:xfrm>
          <a:prstGeom prst="line">
            <a:avLst/>
          </a:prstGeom>
          <a:noFill/>
          <a:ln w="15875">
            <a:solidFill>
              <a:srgbClr val="C7D0E6"/>
            </a:solidFill>
            <a:prstDash val="solid"/>
          </a:ln>
        </p:spPr>
      </p:sp>
      <p:sp>
        <p:nvSpPr>
          <p:cNvPr id="13" name="Shape 11"/>
          <p:cNvSpPr/>
          <p:nvPr/>
        </p:nvSpPr>
        <p:spPr>
          <a:xfrm>
            <a:off x="3108960" y="3429000"/>
            <a:ext cx="1920240" cy="502920"/>
          </a:xfrm>
          <a:prstGeom prst="roundRect">
            <a:avLst>
              <a:gd name="adj" fmla="val 14545"/>
            </a:avLst>
          </a:prstGeom>
          <a:solidFill>
            <a:srgbClr val="E8ECF5"/>
          </a:solidFill>
          <a:ln/>
        </p:spPr>
      </p:sp>
      <p:sp>
        <p:nvSpPr>
          <p:cNvPr id="14" name="Text 12"/>
          <p:cNvSpPr/>
          <p:nvPr/>
        </p:nvSpPr>
        <p:spPr>
          <a:xfrm>
            <a:off x="3108960" y="3429000"/>
            <a:ext cx="1920240" cy="502920"/>
          </a:xfrm>
          <a:prstGeom prst="rect">
            <a:avLst/>
          </a:prstGeom>
          <a:noFill/>
          <a:ln/>
        </p:spPr>
        <p:txBody>
          <a:bodyPr wrap="square" lIns="0" tIns="0" rIns="0" bIns="0" rtlCol="0" anchor="ctr"/>
          <a:lstStyle/>
          <a:p>
            <a:pPr marL="0" indent="0" algn="ctr">
              <a:buNone/>
            </a:pPr>
            <a:r>
              <a:rPr lang="en-US" sz="1350" b="1" dirty="0">
                <a:solidFill>
                  <a:srgbClr val="1B2A4A"/>
                </a:solidFill>
                <a:latin typeface="Calibri" pitchFamily="34" charset="0"/>
                <a:ea typeface="Calibri" pitchFamily="34" charset="-122"/>
                <a:cs typeface="Calibri" pitchFamily="34" charset="-120"/>
              </a:rPr>
              <a:t>creation</a:t>
            </a:r>
            <a:endParaRPr lang="en-US" sz="1350" dirty="0"/>
          </a:p>
        </p:txBody>
      </p:sp>
      <p:sp>
        <p:nvSpPr>
          <p:cNvPr id="15" name="Shape 13"/>
          <p:cNvSpPr/>
          <p:nvPr/>
        </p:nvSpPr>
        <p:spPr>
          <a:xfrm>
            <a:off x="2194560" y="3931920"/>
            <a:ext cx="914400" cy="571500"/>
          </a:xfrm>
          <a:prstGeom prst="line">
            <a:avLst/>
          </a:prstGeom>
          <a:noFill/>
          <a:ln w="15875">
            <a:solidFill>
              <a:srgbClr val="C7D0E6"/>
            </a:solidFill>
            <a:prstDash val="solid"/>
          </a:ln>
        </p:spPr>
      </p:sp>
      <p:sp>
        <p:nvSpPr>
          <p:cNvPr id="16" name="Shape 14"/>
          <p:cNvSpPr/>
          <p:nvPr/>
        </p:nvSpPr>
        <p:spPr>
          <a:xfrm>
            <a:off x="3108960" y="4251960"/>
            <a:ext cx="1920240" cy="502920"/>
          </a:xfrm>
          <a:prstGeom prst="roundRect">
            <a:avLst>
              <a:gd name="adj" fmla="val 14545"/>
            </a:avLst>
          </a:prstGeom>
          <a:solidFill>
            <a:srgbClr val="E8ECF5"/>
          </a:solidFill>
          <a:ln/>
        </p:spPr>
      </p:sp>
      <p:sp>
        <p:nvSpPr>
          <p:cNvPr id="17" name="Text 15"/>
          <p:cNvSpPr/>
          <p:nvPr/>
        </p:nvSpPr>
        <p:spPr>
          <a:xfrm>
            <a:off x="3108960" y="4251960"/>
            <a:ext cx="1920240" cy="502920"/>
          </a:xfrm>
          <a:prstGeom prst="rect">
            <a:avLst/>
          </a:prstGeom>
          <a:noFill/>
          <a:ln/>
        </p:spPr>
        <p:txBody>
          <a:bodyPr wrap="square" lIns="0" tIns="0" rIns="0" bIns="0" rtlCol="0" anchor="ctr"/>
          <a:lstStyle/>
          <a:p>
            <a:pPr marL="0" indent="0" algn="ctr">
              <a:buNone/>
            </a:pPr>
            <a:r>
              <a:rPr lang="en-US" sz="1350" b="1" dirty="0">
                <a:solidFill>
                  <a:srgbClr val="1B2A4A"/>
                </a:solidFill>
                <a:latin typeface="Calibri" pitchFamily="34" charset="0"/>
                <a:ea typeface="Calibri" pitchFamily="34" charset="-122"/>
                <a:cs typeface="Calibri" pitchFamily="34" charset="-120"/>
              </a:rPr>
              <a:t>creatively</a:t>
            </a:r>
            <a:endParaRPr lang="en-US" sz="1350" dirty="0"/>
          </a:p>
        </p:txBody>
      </p:sp>
      <p:sp>
        <p:nvSpPr>
          <p:cNvPr id="18" name="Shape 16"/>
          <p:cNvSpPr/>
          <p:nvPr/>
        </p:nvSpPr>
        <p:spPr>
          <a:xfrm>
            <a:off x="2194560" y="3931920"/>
            <a:ext cx="914400" cy="1394460"/>
          </a:xfrm>
          <a:prstGeom prst="line">
            <a:avLst/>
          </a:prstGeom>
          <a:noFill/>
          <a:ln w="15875">
            <a:solidFill>
              <a:srgbClr val="C7D0E6"/>
            </a:solidFill>
            <a:prstDash val="solid"/>
          </a:ln>
        </p:spPr>
      </p:sp>
      <p:sp>
        <p:nvSpPr>
          <p:cNvPr id="19" name="Shape 17"/>
          <p:cNvSpPr/>
          <p:nvPr/>
        </p:nvSpPr>
        <p:spPr>
          <a:xfrm>
            <a:off x="3108960" y="5074920"/>
            <a:ext cx="1920240" cy="502920"/>
          </a:xfrm>
          <a:prstGeom prst="roundRect">
            <a:avLst>
              <a:gd name="adj" fmla="val 14545"/>
            </a:avLst>
          </a:prstGeom>
          <a:solidFill>
            <a:srgbClr val="E8ECF5"/>
          </a:solidFill>
          <a:ln/>
        </p:spPr>
      </p:sp>
      <p:sp>
        <p:nvSpPr>
          <p:cNvPr id="20" name="Text 18"/>
          <p:cNvSpPr/>
          <p:nvPr/>
        </p:nvSpPr>
        <p:spPr>
          <a:xfrm>
            <a:off x="3108960" y="5074920"/>
            <a:ext cx="1920240" cy="502920"/>
          </a:xfrm>
          <a:prstGeom prst="rect">
            <a:avLst/>
          </a:prstGeom>
          <a:noFill/>
          <a:ln/>
        </p:spPr>
        <p:txBody>
          <a:bodyPr wrap="square" lIns="0" tIns="0" rIns="0" bIns="0" rtlCol="0" anchor="ctr"/>
          <a:lstStyle/>
          <a:p>
            <a:pPr marL="0" indent="0" algn="ctr">
              <a:buNone/>
            </a:pPr>
            <a:r>
              <a:rPr lang="en-US" sz="1350" b="1" dirty="0">
                <a:solidFill>
                  <a:srgbClr val="1B2A4A"/>
                </a:solidFill>
                <a:latin typeface="Calibri" pitchFamily="34" charset="0"/>
                <a:ea typeface="Calibri" pitchFamily="34" charset="-122"/>
                <a:cs typeface="Calibri" pitchFamily="34" charset="-120"/>
              </a:rPr>
              <a:t>recreate</a:t>
            </a:r>
            <a:endParaRPr lang="en-US" sz="1350" dirty="0"/>
          </a:p>
        </p:txBody>
      </p:sp>
      <p:sp>
        <p:nvSpPr>
          <p:cNvPr id="21" name="Shape 19"/>
          <p:cNvSpPr/>
          <p:nvPr/>
        </p:nvSpPr>
        <p:spPr>
          <a:xfrm>
            <a:off x="5623560" y="1783080"/>
            <a:ext cx="6035040" cy="4251960"/>
          </a:xfrm>
          <a:prstGeom prst="roundRect">
            <a:avLst>
              <a:gd name="adj" fmla="val 2151"/>
            </a:avLst>
          </a:prstGeom>
          <a:solidFill>
            <a:srgbClr val="1B2A4A"/>
          </a:solidFill>
          <a:ln/>
        </p:spPr>
      </p:sp>
      <p:sp>
        <p:nvSpPr>
          <p:cNvPr id="22" name="Text 20"/>
          <p:cNvSpPr/>
          <p:nvPr/>
        </p:nvSpPr>
        <p:spPr>
          <a:xfrm>
            <a:off x="5943600" y="2011680"/>
            <a:ext cx="5394960" cy="320040"/>
          </a:xfrm>
          <a:prstGeom prst="rect">
            <a:avLst/>
          </a:prstGeom>
          <a:noFill/>
          <a:ln/>
        </p:spPr>
        <p:txBody>
          <a:bodyPr wrap="square" lIns="0" tIns="0" rIns="0" bIns="0" rtlCol="0" anchor="ctr"/>
          <a:lstStyle/>
          <a:p>
            <a:pPr marL="0" indent="0">
              <a:buNone/>
            </a:pPr>
            <a:r>
              <a:rPr lang="en-US" sz="1200" b="1" kern="0" spc="100" dirty="0">
                <a:solidFill>
                  <a:srgbClr val="E4C874"/>
                </a:solidFill>
                <a:latin typeface="Calibri" pitchFamily="34" charset="0"/>
                <a:ea typeface="Calibri" pitchFamily="34" charset="-122"/>
                <a:cs typeface="Calibri" pitchFamily="34" charset="-120"/>
              </a:rPr>
              <a:t>STRATEGIES FOR LEARNERS</a:t>
            </a:r>
            <a:endParaRPr lang="en-US" sz="1200" dirty="0"/>
          </a:p>
        </p:txBody>
      </p:sp>
      <p:sp>
        <p:nvSpPr>
          <p:cNvPr id="23" name="Shape 21"/>
          <p:cNvSpPr/>
          <p:nvPr/>
        </p:nvSpPr>
        <p:spPr>
          <a:xfrm>
            <a:off x="5943600" y="2514600"/>
            <a:ext cx="365760" cy="365760"/>
          </a:xfrm>
          <a:prstGeom prst="ellipse">
            <a:avLst/>
          </a:prstGeom>
          <a:solidFill>
            <a:srgbClr val="C9A227"/>
          </a:solidFill>
          <a:ln/>
        </p:spPr>
      </p:sp>
      <p:sp>
        <p:nvSpPr>
          <p:cNvPr id="24" name="Text 22"/>
          <p:cNvSpPr/>
          <p:nvPr/>
        </p:nvSpPr>
        <p:spPr>
          <a:xfrm>
            <a:off x="5943600" y="2514600"/>
            <a:ext cx="365760" cy="365760"/>
          </a:xfrm>
          <a:prstGeom prst="rect">
            <a:avLst/>
          </a:prstGeom>
          <a:noFill/>
          <a:ln/>
        </p:spPr>
        <p:txBody>
          <a:bodyPr wrap="square" lIns="0" tIns="0" rIns="0" bIns="0" rtlCol="0" anchor="ctr"/>
          <a:lstStyle/>
          <a:p>
            <a:pPr marL="0" indent="0" algn="ctr">
              <a:buNone/>
            </a:pPr>
            <a:r>
              <a:rPr lang="en-US" sz="1400" b="1" dirty="0">
                <a:solidFill>
                  <a:srgbClr val="142038"/>
                </a:solidFill>
                <a:latin typeface="Cambria" pitchFamily="34" charset="0"/>
                <a:ea typeface="Cambria" pitchFamily="34" charset="-122"/>
                <a:cs typeface="Cambria" pitchFamily="34" charset="-120"/>
              </a:rPr>
              <a:t>1</a:t>
            </a:r>
            <a:endParaRPr lang="en-US" sz="1400" dirty="0"/>
          </a:p>
        </p:txBody>
      </p:sp>
      <p:sp>
        <p:nvSpPr>
          <p:cNvPr id="25" name="Text 23"/>
          <p:cNvSpPr/>
          <p:nvPr/>
        </p:nvSpPr>
        <p:spPr>
          <a:xfrm>
            <a:off x="6492240" y="2468880"/>
            <a:ext cx="4892040" cy="685800"/>
          </a:xfrm>
          <a:prstGeom prst="rect">
            <a:avLst/>
          </a:prstGeom>
          <a:noFill/>
          <a:ln/>
        </p:spPr>
        <p:txBody>
          <a:bodyPr wrap="square" lIns="0" tIns="0" rIns="0" bIns="0" rtlCol="0" anchor="ctr"/>
          <a:lstStyle/>
          <a:p>
            <a:pPr marL="0" indent="0">
              <a:lnSpc>
                <a:spcPct val="115000"/>
              </a:lnSpc>
              <a:buNone/>
            </a:pPr>
            <a:r>
              <a:rPr lang="en-US" sz="1300" dirty="0">
                <a:solidFill>
                  <a:srgbClr val="FFFFFF"/>
                </a:solidFill>
                <a:latin typeface="Calibri" pitchFamily="34" charset="0"/>
                <a:ea typeface="Calibri" pitchFamily="34" charset="-122"/>
                <a:cs typeface="Calibri" pitchFamily="34" charset="-120"/>
              </a:rPr>
              <a:t>Learn high-frequency roots and affixes rather than isolated words</a:t>
            </a:r>
            <a:endParaRPr lang="en-US" sz="1300" dirty="0"/>
          </a:p>
        </p:txBody>
      </p:sp>
      <p:sp>
        <p:nvSpPr>
          <p:cNvPr id="26" name="Shape 24"/>
          <p:cNvSpPr/>
          <p:nvPr/>
        </p:nvSpPr>
        <p:spPr>
          <a:xfrm>
            <a:off x="5943600" y="3355848"/>
            <a:ext cx="365760" cy="365760"/>
          </a:xfrm>
          <a:prstGeom prst="ellipse">
            <a:avLst/>
          </a:prstGeom>
          <a:solidFill>
            <a:srgbClr val="C9A227"/>
          </a:solidFill>
          <a:ln/>
        </p:spPr>
      </p:sp>
      <p:sp>
        <p:nvSpPr>
          <p:cNvPr id="27" name="Text 25"/>
          <p:cNvSpPr/>
          <p:nvPr/>
        </p:nvSpPr>
        <p:spPr>
          <a:xfrm>
            <a:off x="5943600" y="3355848"/>
            <a:ext cx="365760" cy="365760"/>
          </a:xfrm>
          <a:prstGeom prst="rect">
            <a:avLst/>
          </a:prstGeom>
          <a:noFill/>
          <a:ln/>
        </p:spPr>
        <p:txBody>
          <a:bodyPr wrap="square" lIns="0" tIns="0" rIns="0" bIns="0" rtlCol="0" anchor="ctr"/>
          <a:lstStyle/>
          <a:p>
            <a:pPr marL="0" indent="0" algn="ctr">
              <a:buNone/>
            </a:pPr>
            <a:r>
              <a:rPr lang="en-US" sz="1400" b="1" dirty="0">
                <a:solidFill>
                  <a:srgbClr val="142038"/>
                </a:solidFill>
                <a:latin typeface="Cambria" pitchFamily="34" charset="0"/>
                <a:ea typeface="Cambria" pitchFamily="34" charset="-122"/>
                <a:cs typeface="Cambria" pitchFamily="34" charset="-120"/>
              </a:rPr>
              <a:t>2</a:t>
            </a:r>
            <a:endParaRPr lang="en-US" sz="1400" dirty="0"/>
          </a:p>
        </p:txBody>
      </p:sp>
      <p:sp>
        <p:nvSpPr>
          <p:cNvPr id="28" name="Text 26"/>
          <p:cNvSpPr/>
          <p:nvPr/>
        </p:nvSpPr>
        <p:spPr>
          <a:xfrm>
            <a:off x="6492240" y="3310128"/>
            <a:ext cx="4892040" cy="685800"/>
          </a:xfrm>
          <a:prstGeom prst="rect">
            <a:avLst/>
          </a:prstGeom>
          <a:noFill/>
          <a:ln/>
        </p:spPr>
        <p:txBody>
          <a:bodyPr wrap="square" lIns="0" tIns="0" rIns="0" bIns="0" rtlCol="0" anchor="ctr"/>
          <a:lstStyle/>
          <a:p>
            <a:pPr marL="0" indent="0">
              <a:lnSpc>
                <a:spcPct val="115000"/>
              </a:lnSpc>
              <a:buNone/>
            </a:pPr>
            <a:r>
              <a:rPr lang="en-US" sz="1300" dirty="0">
                <a:solidFill>
                  <a:srgbClr val="FFFFFF"/>
                </a:solidFill>
                <a:latin typeface="Calibri" pitchFamily="34" charset="0"/>
                <a:ea typeface="Calibri" pitchFamily="34" charset="-122"/>
                <a:cs typeface="Calibri" pitchFamily="34" charset="-120"/>
              </a:rPr>
              <a:t>Build word maps or family trees to connect new words to known ones</a:t>
            </a:r>
            <a:endParaRPr lang="en-US" sz="1300" dirty="0"/>
          </a:p>
        </p:txBody>
      </p:sp>
      <p:sp>
        <p:nvSpPr>
          <p:cNvPr id="29" name="Shape 27"/>
          <p:cNvSpPr/>
          <p:nvPr/>
        </p:nvSpPr>
        <p:spPr>
          <a:xfrm>
            <a:off x="5943600" y="4197096"/>
            <a:ext cx="365760" cy="365760"/>
          </a:xfrm>
          <a:prstGeom prst="ellipse">
            <a:avLst/>
          </a:prstGeom>
          <a:solidFill>
            <a:srgbClr val="C9A227"/>
          </a:solidFill>
          <a:ln/>
        </p:spPr>
      </p:sp>
      <p:sp>
        <p:nvSpPr>
          <p:cNvPr id="30" name="Text 28"/>
          <p:cNvSpPr/>
          <p:nvPr/>
        </p:nvSpPr>
        <p:spPr>
          <a:xfrm>
            <a:off x="5943600" y="4197096"/>
            <a:ext cx="365760" cy="365760"/>
          </a:xfrm>
          <a:prstGeom prst="rect">
            <a:avLst/>
          </a:prstGeom>
          <a:noFill/>
          <a:ln/>
        </p:spPr>
        <p:txBody>
          <a:bodyPr wrap="square" lIns="0" tIns="0" rIns="0" bIns="0" rtlCol="0" anchor="ctr"/>
          <a:lstStyle/>
          <a:p>
            <a:pPr marL="0" indent="0" algn="ctr">
              <a:buNone/>
            </a:pPr>
            <a:r>
              <a:rPr lang="en-US" sz="1400" b="1" dirty="0">
                <a:solidFill>
                  <a:srgbClr val="142038"/>
                </a:solidFill>
                <a:latin typeface="Cambria" pitchFamily="34" charset="0"/>
                <a:ea typeface="Cambria" pitchFamily="34" charset="-122"/>
                <a:cs typeface="Cambria" pitchFamily="34" charset="-120"/>
              </a:rPr>
              <a:t>3</a:t>
            </a:r>
            <a:endParaRPr lang="en-US" sz="1400" dirty="0"/>
          </a:p>
        </p:txBody>
      </p:sp>
      <p:sp>
        <p:nvSpPr>
          <p:cNvPr id="31" name="Text 29"/>
          <p:cNvSpPr/>
          <p:nvPr/>
        </p:nvSpPr>
        <p:spPr>
          <a:xfrm>
            <a:off x="6492240" y="4151376"/>
            <a:ext cx="4892040" cy="685800"/>
          </a:xfrm>
          <a:prstGeom prst="rect">
            <a:avLst/>
          </a:prstGeom>
          <a:noFill/>
          <a:ln/>
        </p:spPr>
        <p:txBody>
          <a:bodyPr wrap="square" lIns="0" tIns="0" rIns="0" bIns="0" rtlCol="0" anchor="ctr"/>
          <a:lstStyle/>
          <a:p>
            <a:pPr marL="0" indent="0">
              <a:lnSpc>
                <a:spcPct val="115000"/>
              </a:lnSpc>
              <a:buNone/>
            </a:pPr>
            <a:r>
              <a:rPr lang="en-US" sz="1300" dirty="0">
                <a:solidFill>
                  <a:srgbClr val="FFFFFF"/>
                </a:solidFill>
                <a:latin typeface="Calibri" pitchFamily="34" charset="0"/>
                <a:ea typeface="Calibri" pitchFamily="34" charset="-122"/>
                <a:cs typeface="Calibri" pitchFamily="34" charset="-120"/>
              </a:rPr>
              <a:t>Practice sorting words by part of speech using suffix patterns</a:t>
            </a:r>
            <a:endParaRPr lang="en-US" sz="1300" dirty="0"/>
          </a:p>
        </p:txBody>
      </p:sp>
      <p:sp>
        <p:nvSpPr>
          <p:cNvPr id="32" name="Shape 30"/>
          <p:cNvSpPr/>
          <p:nvPr/>
        </p:nvSpPr>
        <p:spPr>
          <a:xfrm>
            <a:off x="5943600" y="5038344"/>
            <a:ext cx="365760" cy="365760"/>
          </a:xfrm>
          <a:prstGeom prst="ellipse">
            <a:avLst/>
          </a:prstGeom>
          <a:solidFill>
            <a:srgbClr val="C9A227"/>
          </a:solidFill>
          <a:ln/>
        </p:spPr>
      </p:sp>
      <p:sp>
        <p:nvSpPr>
          <p:cNvPr id="33" name="Text 31"/>
          <p:cNvSpPr/>
          <p:nvPr/>
        </p:nvSpPr>
        <p:spPr>
          <a:xfrm>
            <a:off x="5943600" y="5038344"/>
            <a:ext cx="365760" cy="365760"/>
          </a:xfrm>
          <a:prstGeom prst="rect">
            <a:avLst/>
          </a:prstGeom>
          <a:noFill/>
          <a:ln/>
        </p:spPr>
        <p:txBody>
          <a:bodyPr wrap="square" lIns="0" tIns="0" rIns="0" bIns="0" rtlCol="0" anchor="ctr"/>
          <a:lstStyle/>
          <a:p>
            <a:pPr marL="0" indent="0" algn="ctr">
              <a:buNone/>
            </a:pPr>
            <a:r>
              <a:rPr lang="en-US" sz="1400" b="1" dirty="0">
                <a:solidFill>
                  <a:srgbClr val="142038"/>
                </a:solidFill>
                <a:latin typeface="Cambria" pitchFamily="34" charset="0"/>
                <a:ea typeface="Cambria" pitchFamily="34" charset="-122"/>
                <a:cs typeface="Cambria" pitchFamily="34" charset="-120"/>
              </a:rPr>
              <a:t>4</a:t>
            </a:r>
            <a:endParaRPr lang="en-US" sz="1400" dirty="0"/>
          </a:p>
        </p:txBody>
      </p:sp>
      <p:sp>
        <p:nvSpPr>
          <p:cNvPr id="34" name="Text 32"/>
          <p:cNvSpPr/>
          <p:nvPr/>
        </p:nvSpPr>
        <p:spPr>
          <a:xfrm>
            <a:off x="6492240" y="4992624"/>
            <a:ext cx="4892040" cy="685800"/>
          </a:xfrm>
          <a:prstGeom prst="rect">
            <a:avLst/>
          </a:prstGeom>
          <a:noFill/>
          <a:ln/>
        </p:spPr>
        <p:txBody>
          <a:bodyPr wrap="square" lIns="0" tIns="0" rIns="0" bIns="0" rtlCol="0" anchor="ctr"/>
          <a:lstStyle/>
          <a:p>
            <a:pPr marL="0" indent="0">
              <a:lnSpc>
                <a:spcPct val="115000"/>
              </a:lnSpc>
              <a:buNone/>
            </a:pPr>
            <a:r>
              <a:rPr lang="en-US" sz="1300" dirty="0">
                <a:solidFill>
                  <a:srgbClr val="FFFFFF"/>
                </a:solidFill>
                <a:latin typeface="Calibri" pitchFamily="34" charset="0"/>
                <a:ea typeface="Calibri" pitchFamily="34" charset="-122"/>
                <a:cs typeface="Calibri" pitchFamily="34" charset="-120"/>
              </a:rPr>
              <a:t>Use context to confirm meaning after decoding an unfamiliar affix</a:t>
            </a:r>
            <a:endParaRPr lang="en-US" sz="1300" dirty="0"/>
          </a:p>
        </p:txBody>
      </p:sp>
      <p:sp>
        <p:nvSpPr>
          <p:cNvPr id="35" name="Text 33"/>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A6AFC6"/>
                </a:solidFill>
                <a:latin typeface="Calibri" pitchFamily="34" charset="0"/>
                <a:ea typeface="Calibri" pitchFamily="34" charset="-122"/>
                <a:cs typeface="Calibri" pitchFamily="34" charset="-120"/>
              </a:rPr>
              <a:t>DERIVATIONAL MORPHOLOGY</a:t>
            </a:r>
            <a:endParaRPr lang="en-US" sz="900" dirty="0"/>
          </a:p>
        </p:txBody>
      </p:sp>
      <p:sp>
        <p:nvSpPr>
          <p:cNvPr id="36" name="Text 34"/>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900" dirty="0">
                <a:solidFill>
                  <a:srgbClr val="A6AFC6"/>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822960" y="685800"/>
            <a:ext cx="7315200" cy="7315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Conclusion</a:t>
            </a:r>
            <a:endParaRPr lang="en-US" sz="3400" dirty="0"/>
          </a:p>
        </p:txBody>
      </p:sp>
      <p:sp>
        <p:nvSpPr>
          <p:cNvPr id="3" name="Shape 1"/>
          <p:cNvSpPr/>
          <p:nvPr/>
        </p:nvSpPr>
        <p:spPr>
          <a:xfrm>
            <a:off x="868680" y="1417320"/>
            <a:ext cx="2194560" cy="0"/>
          </a:xfrm>
          <a:prstGeom prst="line">
            <a:avLst/>
          </a:prstGeom>
          <a:noFill/>
          <a:ln w="25400">
            <a:solidFill>
              <a:srgbClr val="C9A227"/>
            </a:solidFill>
            <a:prstDash val="solid"/>
          </a:ln>
        </p:spPr>
      </p:sp>
      <p:sp>
        <p:nvSpPr>
          <p:cNvPr id="4" name="Shape 2"/>
          <p:cNvSpPr/>
          <p:nvPr/>
        </p:nvSpPr>
        <p:spPr>
          <a:xfrm>
            <a:off x="822960" y="1965960"/>
            <a:ext cx="502920" cy="502920"/>
          </a:xfrm>
          <a:prstGeom prst="ellipse">
            <a:avLst/>
          </a:prstGeom>
          <a:solidFill>
            <a:srgbClr val="C9A227"/>
          </a:solidFill>
          <a:ln/>
        </p:spPr>
      </p:sp>
      <p:sp>
        <p:nvSpPr>
          <p:cNvPr id="5" name="Text 3"/>
          <p:cNvSpPr/>
          <p:nvPr/>
        </p:nvSpPr>
        <p:spPr>
          <a:xfrm>
            <a:off x="822960" y="1965960"/>
            <a:ext cx="502920" cy="502920"/>
          </a:xfrm>
          <a:prstGeom prst="rect">
            <a:avLst/>
          </a:prstGeom>
          <a:noFill/>
          <a:ln/>
        </p:spPr>
        <p:txBody>
          <a:bodyPr wrap="square" lIns="0" tIns="0" rIns="0" bIns="0" rtlCol="0" anchor="ctr"/>
          <a:lstStyle/>
          <a:p>
            <a:pPr marL="0" indent="0" algn="ctr">
              <a:buNone/>
            </a:pPr>
            <a:r>
              <a:rPr lang="en-US" sz="1800" b="1" dirty="0">
                <a:solidFill>
                  <a:srgbClr val="142038"/>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554480" y="1920240"/>
            <a:ext cx="950976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The engine of vocabulary growth</a:t>
            </a:r>
            <a:endParaRPr lang="en-US" sz="1600" dirty="0"/>
          </a:p>
        </p:txBody>
      </p:sp>
      <p:sp>
        <p:nvSpPr>
          <p:cNvPr id="7" name="Text 5"/>
          <p:cNvSpPr/>
          <p:nvPr/>
        </p:nvSpPr>
        <p:spPr>
          <a:xfrm>
            <a:off x="1554480" y="2286000"/>
            <a:ext cx="9509760" cy="502920"/>
          </a:xfrm>
          <a:prstGeom prst="rect">
            <a:avLst/>
          </a:prstGeom>
          <a:noFill/>
          <a:ln/>
        </p:spPr>
        <p:txBody>
          <a:bodyPr wrap="square" lIns="0" tIns="0" rIns="0" bIns="0" rtlCol="0" anchor="ctr"/>
          <a:lstStyle/>
          <a:p>
            <a:pPr marL="0" indent="0">
              <a:lnSpc>
                <a:spcPct val="120000"/>
              </a:lnSpc>
              <a:buNone/>
            </a:pPr>
            <a:r>
              <a:rPr lang="en-US" sz="1300" dirty="0">
                <a:solidFill>
                  <a:srgbClr val="AEB8D4"/>
                </a:solidFill>
                <a:latin typeface="Calibri" pitchFamily="34" charset="0"/>
                <a:ea typeface="Calibri" pitchFamily="34" charset="-122"/>
                <a:cs typeface="Calibri" pitchFamily="34" charset="-120"/>
              </a:rPr>
              <a:t>Derivational morphology turns a small set of roots and affixes into thousands of usable words.</a:t>
            </a:r>
            <a:endParaRPr lang="en-US" sz="1300" dirty="0"/>
          </a:p>
        </p:txBody>
      </p:sp>
      <p:sp>
        <p:nvSpPr>
          <p:cNvPr id="8" name="Shape 6"/>
          <p:cNvSpPr/>
          <p:nvPr/>
        </p:nvSpPr>
        <p:spPr>
          <a:xfrm>
            <a:off x="822960" y="3017520"/>
            <a:ext cx="502920" cy="502920"/>
          </a:xfrm>
          <a:prstGeom prst="ellipse">
            <a:avLst/>
          </a:prstGeom>
          <a:solidFill>
            <a:srgbClr val="C9A227"/>
          </a:solidFill>
          <a:ln/>
        </p:spPr>
      </p:sp>
      <p:sp>
        <p:nvSpPr>
          <p:cNvPr id="9" name="Text 7"/>
          <p:cNvSpPr/>
          <p:nvPr/>
        </p:nvSpPr>
        <p:spPr>
          <a:xfrm>
            <a:off x="822960" y="3017520"/>
            <a:ext cx="502920" cy="502920"/>
          </a:xfrm>
          <a:prstGeom prst="rect">
            <a:avLst/>
          </a:prstGeom>
          <a:noFill/>
          <a:ln/>
        </p:spPr>
        <p:txBody>
          <a:bodyPr wrap="square" lIns="0" tIns="0" rIns="0" bIns="0" rtlCol="0" anchor="ctr"/>
          <a:lstStyle/>
          <a:p>
            <a:pPr marL="0" indent="0" algn="ctr">
              <a:buNone/>
            </a:pPr>
            <a:r>
              <a:rPr lang="en-US" sz="1800" b="1" dirty="0">
                <a:solidFill>
                  <a:srgbClr val="142038"/>
                </a:solidFill>
                <a:latin typeface="Cambria" pitchFamily="34" charset="0"/>
                <a:ea typeface="Cambria" pitchFamily="34" charset="-122"/>
                <a:cs typeface="Cambria" pitchFamily="34" charset="-120"/>
              </a:rPr>
              <a:t>2</a:t>
            </a:r>
            <a:endParaRPr lang="en-US" sz="1800" dirty="0"/>
          </a:p>
        </p:txBody>
      </p:sp>
      <p:sp>
        <p:nvSpPr>
          <p:cNvPr id="10" name="Text 8"/>
          <p:cNvSpPr/>
          <p:nvPr/>
        </p:nvSpPr>
        <p:spPr>
          <a:xfrm>
            <a:off x="1554480" y="2971800"/>
            <a:ext cx="950976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 tool for decoding the unknown</a:t>
            </a:r>
            <a:endParaRPr lang="en-US" sz="1600" dirty="0"/>
          </a:p>
        </p:txBody>
      </p:sp>
      <p:sp>
        <p:nvSpPr>
          <p:cNvPr id="11" name="Text 9"/>
          <p:cNvSpPr/>
          <p:nvPr/>
        </p:nvSpPr>
        <p:spPr>
          <a:xfrm>
            <a:off x="1554480" y="3337560"/>
            <a:ext cx="9509760" cy="502920"/>
          </a:xfrm>
          <a:prstGeom prst="rect">
            <a:avLst/>
          </a:prstGeom>
          <a:noFill/>
          <a:ln/>
        </p:spPr>
        <p:txBody>
          <a:bodyPr wrap="square" lIns="0" tIns="0" rIns="0" bIns="0" rtlCol="0" anchor="ctr"/>
          <a:lstStyle/>
          <a:p>
            <a:pPr marL="0" indent="0">
              <a:lnSpc>
                <a:spcPct val="120000"/>
              </a:lnSpc>
              <a:buNone/>
            </a:pPr>
            <a:r>
              <a:rPr lang="en-US" sz="1300" dirty="0">
                <a:solidFill>
                  <a:srgbClr val="AEB8D4"/>
                </a:solidFill>
                <a:latin typeface="Calibri" pitchFamily="34" charset="0"/>
                <a:ea typeface="Calibri" pitchFamily="34" charset="-122"/>
                <a:cs typeface="Calibri" pitchFamily="34" charset="-120"/>
              </a:rPr>
              <a:t>Recognizing prefixes and suffixes lets learners infer meaning without a dictionary.</a:t>
            </a:r>
            <a:endParaRPr lang="en-US" sz="1300" dirty="0"/>
          </a:p>
        </p:txBody>
      </p:sp>
      <p:sp>
        <p:nvSpPr>
          <p:cNvPr id="12" name="Shape 10"/>
          <p:cNvSpPr/>
          <p:nvPr/>
        </p:nvSpPr>
        <p:spPr>
          <a:xfrm>
            <a:off x="822960" y="4069080"/>
            <a:ext cx="502920" cy="502920"/>
          </a:xfrm>
          <a:prstGeom prst="ellipse">
            <a:avLst/>
          </a:prstGeom>
          <a:solidFill>
            <a:srgbClr val="C9A227"/>
          </a:solidFill>
          <a:ln/>
        </p:spPr>
      </p:sp>
      <p:sp>
        <p:nvSpPr>
          <p:cNvPr id="13" name="Text 11"/>
          <p:cNvSpPr/>
          <p:nvPr/>
        </p:nvSpPr>
        <p:spPr>
          <a:xfrm>
            <a:off x="822960" y="4069080"/>
            <a:ext cx="502920" cy="502920"/>
          </a:xfrm>
          <a:prstGeom prst="rect">
            <a:avLst/>
          </a:prstGeom>
          <a:noFill/>
          <a:ln/>
        </p:spPr>
        <p:txBody>
          <a:bodyPr wrap="square" lIns="0" tIns="0" rIns="0" bIns="0" rtlCol="0" anchor="ctr"/>
          <a:lstStyle/>
          <a:p>
            <a:pPr marL="0" indent="0" algn="ctr">
              <a:buNone/>
            </a:pPr>
            <a:r>
              <a:rPr lang="en-US" sz="1800" b="1" dirty="0">
                <a:solidFill>
                  <a:srgbClr val="142038"/>
                </a:solidFill>
                <a:latin typeface="Cambria" pitchFamily="34" charset="0"/>
                <a:ea typeface="Cambria" pitchFamily="34" charset="-122"/>
                <a:cs typeface="Cambria" pitchFamily="34" charset="-120"/>
              </a:rPr>
              <a:t>3</a:t>
            </a:r>
            <a:endParaRPr lang="en-US" sz="1800" dirty="0"/>
          </a:p>
        </p:txBody>
      </p:sp>
      <p:sp>
        <p:nvSpPr>
          <p:cNvPr id="14" name="Text 12"/>
          <p:cNvSpPr/>
          <p:nvPr/>
        </p:nvSpPr>
        <p:spPr>
          <a:xfrm>
            <a:off x="1554480" y="4023360"/>
            <a:ext cx="950976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Efficient, transferable learning</a:t>
            </a:r>
            <a:endParaRPr lang="en-US" sz="1600" dirty="0"/>
          </a:p>
        </p:txBody>
      </p:sp>
      <p:sp>
        <p:nvSpPr>
          <p:cNvPr id="15" name="Text 13"/>
          <p:cNvSpPr/>
          <p:nvPr/>
        </p:nvSpPr>
        <p:spPr>
          <a:xfrm>
            <a:off x="1554480" y="4389120"/>
            <a:ext cx="9509760" cy="502920"/>
          </a:xfrm>
          <a:prstGeom prst="rect">
            <a:avLst/>
          </a:prstGeom>
          <a:noFill/>
          <a:ln/>
        </p:spPr>
        <p:txBody>
          <a:bodyPr wrap="square" lIns="0" tIns="0" rIns="0" bIns="0" rtlCol="0" anchor="ctr"/>
          <a:lstStyle/>
          <a:p>
            <a:pPr marL="0" indent="0">
              <a:lnSpc>
                <a:spcPct val="120000"/>
              </a:lnSpc>
              <a:buNone/>
            </a:pPr>
            <a:r>
              <a:rPr lang="en-US" sz="1300" dirty="0">
                <a:solidFill>
                  <a:srgbClr val="AEB8D4"/>
                </a:solidFill>
                <a:latin typeface="Calibri" pitchFamily="34" charset="0"/>
                <a:ea typeface="Calibri" pitchFamily="34" charset="-122"/>
                <a:cs typeface="Calibri" pitchFamily="34" charset="-120"/>
              </a:rPr>
              <a:t>Mastering common affix patterns builds vocabulary far faster than memorizing words one by one.</a:t>
            </a:r>
            <a:endParaRPr lang="en-US" sz="1300" dirty="0"/>
          </a:p>
        </p:txBody>
      </p:sp>
      <p:sp>
        <p:nvSpPr>
          <p:cNvPr id="16" name="Shape 14"/>
          <p:cNvSpPr/>
          <p:nvPr/>
        </p:nvSpPr>
        <p:spPr>
          <a:xfrm>
            <a:off x="822960" y="5257800"/>
            <a:ext cx="10515600" cy="777240"/>
          </a:xfrm>
          <a:prstGeom prst="roundRect">
            <a:avLst>
              <a:gd name="adj" fmla="val 11765"/>
            </a:avLst>
          </a:prstGeom>
          <a:solidFill>
            <a:srgbClr val="24345B"/>
          </a:solidFill>
          <a:ln/>
        </p:spPr>
      </p:sp>
      <p:sp>
        <p:nvSpPr>
          <p:cNvPr id="17" name="Text 15"/>
          <p:cNvSpPr/>
          <p:nvPr/>
        </p:nvSpPr>
        <p:spPr>
          <a:xfrm>
            <a:off x="1097280" y="5257800"/>
            <a:ext cx="9966960" cy="777240"/>
          </a:xfrm>
          <a:prstGeom prst="rect">
            <a:avLst/>
          </a:prstGeom>
          <a:noFill/>
          <a:ln/>
        </p:spPr>
        <p:txBody>
          <a:bodyPr wrap="square" lIns="0" tIns="0" rIns="0" bIns="0" rtlCol="0" anchor="ctr"/>
          <a:lstStyle/>
          <a:p>
            <a:pPr marL="0" indent="0" algn="ctr">
              <a:buNone/>
            </a:pPr>
            <a:r>
              <a:rPr lang="en-US" sz="1600" i="1" dirty="0">
                <a:solidFill>
                  <a:srgbClr val="E4C874"/>
                </a:solidFill>
                <a:latin typeface="Cambria" pitchFamily="34" charset="0"/>
                <a:ea typeface="Cambria" pitchFamily="34" charset="-122"/>
                <a:cs typeface="Cambria" pitchFamily="34" charset="-120"/>
              </a:rPr>
              <a:t>“Master the parts, and you unlock the whole lexicon.”</a:t>
            </a:r>
            <a:endParaRPr lang="en-US" sz="1600" dirty="0"/>
          </a:p>
        </p:txBody>
      </p:sp>
      <p:sp>
        <p:nvSpPr>
          <p:cNvPr id="18" name="Text 16"/>
          <p:cNvSpPr/>
          <p:nvPr/>
        </p:nvSpPr>
        <p:spPr>
          <a:xfrm>
            <a:off x="457200" y="6473952"/>
            <a:ext cx="5486400" cy="274320"/>
          </a:xfrm>
          <a:prstGeom prst="rect">
            <a:avLst/>
          </a:prstGeom>
          <a:noFill/>
          <a:ln/>
        </p:spPr>
        <p:txBody>
          <a:bodyPr wrap="square" lIns="0" tIns="0" rIns="0" bIns="0" rtlCol="0" anchor="ctr"/>
          <a:lstStyle/>
          <a:p>
            <a:pPr marL="0" indent="0">
              <a:buNone/>
            </a:pPr>
            <a:r>
              <a:rPr lang="en-US" sz="900" kern="0" spc="100" dirty="0">
                <a:solidFill>
                  <a:srgbClr val="8C99B8"/>
                </a:solidFill>
                <a:latin typeface="Calibri" pitchFamily="34" charset="0"/>
                <a:ea typeface="Calibri" pitchFamily="34" charset="-122"/>
                <a:cs typeface="Calibri" pitchFamily="34" charset="-120"/>
              </a:rPr>
              <a:t>DERIVATIONAL MORPHOLOGY</a:t>
            </a:r>
            <a:endParaRPr lang="en-US" sz="900" dirty="0"/>
          </a:p>
        </p:txBody>
      </p:sp>
      <p:sp>
        <p:nvSpPr>
          <p:cNvPr id="19" name="Text 17"/>
          <p:cNvSpPr/>
          <p:nvPr/>
        </p:nvSpPr>
        <p:spPr>
          <a:xfrm>
            <a:off x="11365992" y="6473952"/>
            <a:ext cx="457200" cy="274320"/>
          </a:xfrm>
          <a:prstGeom prst="rect">
            <a:avLst/>
          </a:prstGeom>
          <a:noFill/>
          <a:ln/>
        </p:spPr>
        <p:txBody>
          <a:bodyPr wrap="square" lIns="0" tIns="0" rIns="0" bIns="0" rtlCol="0" anchor="ctr"/>
          <a:lstStyle/>
          <a:p>
            <a:pPr marL="0" indent="0" algn="r">
              <a:buNone/>
            </a:pPr>
            <a:r>
              <a:rPr lang="en-US" sz="900" dirty="0">
                <a:solidFill>
                  <a:srgbClr val="8C99B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TotalTime>
  <Words>1525</Words>
  <Application>Microsoft Office PowerPoint</Application>
  <PresentationFormat>Widescreen</PresentationFormat>
  <Paragraphs>159</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GREESHMA REDDY</cp:lastModifiedBy>
  <cp:revision>7</cp:revision>
  <dcterms:created xsi:type="dcterms:W3CDTF">2026-07-23T09:49:43Z</dcterms:created>
  <dcterms:modified xsi:type="dcterms:W3CDTF">2026-08-01T03:07:49Z</dcterms:modified>
</cp:coreProperties>
</file>